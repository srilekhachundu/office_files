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F78B92-E588-4FF8-BB29-9AE9E88630D3}" v="17" dt="2026-07-10T12:47:19.5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DFF06-A2D2-FD90-FFAB-8DAA3DC4B2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B42D3-3516-FB89-4D79-6D30AA72F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0EF0E-609A-9A5F-74F5-65CA87F1A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591D9-4458-8DA9-DD84-1AC8FC91F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21CF9-BEFC-574E-9768-8D31DEBED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971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708E-094D-BE3A-2ED3-12891B7C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F7B0A-7069-7F07-4471-CF58D3D36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A93A0-5D49-8B9B-92AF-F697D71E9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1EEFEA-260E-8398-F611-FC7A03B27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55530-F904-2E15-4204-70EEE5BE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7694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C1BA-EC0A-62CA-41DF-B56BFA322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F41928-354D-1ECE-2EB5-062BE31B3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4D4DB-D6FC-CF03-59E4-1B4416589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74F3B-2800-0854-1B46-9178FA7F8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DF553-44D7-18B3-29CA-A39CF720B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332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6A0C7-CB9C-9D61-3401-04265321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6DBBE-D04D-E1D2-BE1E-0716E3FCF9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B5A46-D017-DE92-E428-A30755128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32CF2-F7C7-985F-5D20-F81218C7F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7FBE9-3684-9E2B-5CB0-B1B2B0201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B73324-6367-EBE8-286C-28DAAF72F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47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3ADDB-7771-B6BD-4DFB-361466A8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F253B9-B1C9-D0A6-6751-2B649AC71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E389D-4121-CCCA-1513-1593C4304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E12252-D274-6327-A16E-7DF989A9B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00C551-74AD-71F7-7083-A9023B3161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88FB78-24F6-EA8D-F839-4CEF84C76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C523F7-7A3A-13B8-8ED3-10D578FA9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8B1D18-8E15-EBF7-F073-45DFD36AE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6050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4C507-C987-AB8C-E6B3-BBDC2AF3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6461BB-FDB0-9B2F-B77E-899082465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B477BF-1142-3526-C429-62A930E17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25570-000E-F483-78EF-EFB68539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257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1222F-FFBA-5284-9060-4FBAB38EC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21A9CE-6955-B7D5-723C-AD0E531EB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BEA6D-1320-63E1-5FC2-1097C60BE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8941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E3B5-C5F1-E700-3E46-8215A5846C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2245A4-9EE2-6CA7-68F3-C7F0F0BBB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1BF02-D3F5-C7D1-E9EE-06EFF64123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7AA8C-0296-C9E4-2C04-305D1268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CF8D1-A4A7-6246-B1FC-AF22C893B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ED89BF-8049-B8BB-E1E9-EB6C73D1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8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DE31C-B03F-6794-4C99-09283A2AC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1255DC-5698-198C-700F-C29261583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8CCF1-0302-9264-9B98-04000AE69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C6668-9865-9012-5701-7FF66F78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7A201-B190-D76C-8E9C-EB6318AD7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3330E-9C2C-36E1-A3B6-EC539A01E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47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3AB9A-DE0A-E9EE-184D-8A23E4716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6CB98-5468-9114-6786-FAC3CF30D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B06C7-5C49-E266-3E61-7C33E89B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D4DE1-F29A-BADF-69A7-D4ADBC55D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2C492-67E8-58B7-E04D-EDA4B9705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026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26E066-B17B-CE7E-7D11-DC4BACB147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B2AD56-F6CA-F285-EC96-FE03509B8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236B3-7462-F852-8A42-8FEFE428C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C9976C-7DA4-3727-0236-C98E24095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2B895-4252-B74F-6FDA-0F432DE3F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2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331B96-BEAD-B26E-2DB9-366AEF91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91854-558E-A325-5813-9C667F89B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C8AE6-F6F4-BD7A-7C98-B078E1312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9E131-89F4-4BF3-B8CF-85E9E906BC4C}" type="datetimeFigureOut">
              <a:rPr lang="en-IN" smtClean="0"/>
              <a:t>13-07-2026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14659D-B9B5-1EAE-1448-BB5D3256FA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95F32-A3A8-C26F-65CE-29E5D05CFD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D516D-7F73-419F-822B-EAC01B2918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4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3BB9C-7F55-CB0E-07E2-A7619CC930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42849"/>
            <a:ext cx="9144000" cy="2387600"/>
          </a:xfrm>
        </p:spPr>
        <p:txBody>
          <a:bodyPr/>
          <a:lstStyle/>
          <a:p>
            <a:r>
              <a:rPr lang="en-IN" dirty="0"/>
              <a:t>"Essential Python Libraries for AI Developers"</a:t>
            </a:r>
          </a:p>
        </p:txBody>
      </p:sp>
    </p:spTree>
    <p:extLst>
      <p:ext uri="{BB962C8B-B14F-4D97-AF65-F5344CB8AC3E}">
        <p14:creationId xmlns:p14="http://schemas.microsoft.com/office/powerpoint/2010/main" val="2552538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CC0D50-E9C9-8B5A-C967-1149F22D3E83}"/>
              </a:ext>
            </a:extLst>
          </p:cNvPr>
          <p:cNvSpPr txBox="1"/>
          <p:nvPr/>
        </p:nvSpPr>
        <p:spPr>
          <a:xfrm>
            <a:off x="544286" y="544286"/>
            <a:ext cx="10918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What is a library? </a:t>
            </a:r>
          </a:p>
          <a:p>
            <a:r>
              <a:rPr lang="en-IN" dirty="0"/>
              <a:t>Why do AI developers use libraries?</a:t>
            </a:r>
          </a:p>
          <a:p>
            <a:r>
              <a:rPr lang="en-IN" dirty="0"/>
              <a:t>What are the benefits of libraries ?</a:t>
            </a:r>
          </a:p>
          <a:p>
            <a:r>
              <a:rPr lang="en-IN" dirty="0"/>
              <a:t>What are the different types of libraries?</a:t>
            </a:r>
          </a:p>
        </p:txBody>
      </p:sp>
    </p:spTree>
    <p:extLst>
      <p:ext uri="{BB962C8B-B14F-4D97-AF65-F5344CB8AC3E}">
        <p14:creationId xmlns:p14="http://schemas.microsoft.com/office/powerpoint/2010/main" val="2926024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21D885-39A9-6D1B-6FBC-966D64EE82A7}"/>
              </a:ext>
            </a:extLst>
          </p:cNvPr>
          <p:cNvSpPr txBox="1"/>
          <p:nvPr/>
        </p:nvSpPr>
        <p:spPr>
          <a:xfrm>
            <a:off x="549729" y="500743"/>
            <a:ext cx="1109254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                                             </a:t>
            </a:r>
            <a:r>
              <a:rPr lang="en-IN" sz="2400" b="1" dirty="0"/>
              <a:t>What is  a library?</a:t>
            </a:r>
          </a:p>
          <a:p>
            <a:r>
              <a:rPr lang="en-IN" dirty="0"/>
              <a:t>A library is a collection of pre-written code, functions, classes, and modules.</a:t>
            </a:r>
          </a:p>
          <a:p>
            <a:r>
              <a:rPr lang="en-IN" dirty="0"/>
              <a:t>Helps to not built every thing from scratch</a:t>
            </a:r>
          </a:p>
          <a:p>
            <a:endParaRPr lang="en-IN" dirty="0"/>
          </a:p>
          <a:p>
            <a:r>
              <a:rPr lang="en-IN" b="1" dirty="0"/>
              <a:t>Real word example: </a:t>
            </a:r>
          </a:p>
          <a:p>
            <a:r>
              <a:rPr lang="en-IN" dirty="0"/>
              <a:t>Without tools, you would need to make every brick, hammer, and nail yourself. </a:t>
            </a:r>
          </a:p>
          <a:p>
            <a:r>
              <a:rPr lang="en-IN" dirty="0"/>
              <a:t>With tools, you can directly use them to build the house faster.</a:t>
            </a:r>
          </a:p>
          <a:p>
            <a:r>
              <a:rPr lang="en-IN" b="1" dirty="0"/>
              <a:t>Ex:</a:t>
            </a:r>
          </a:p>
          <a:p>
            <a:r>
              <a:rPr lang="en-IN" dirty="0"/>
              <a:t># Without a library</a:t>
            </a:r>
          </a:p>
          <a:p>
            <a:r>
              <a:rPr lang="en-US" dirty="0"/>
              <a:t>numbers = [10, 20, 30, 40, 50]</a:t>
            </a:r>
          </a:p>
          <a:p>
            <a:r>
              <a:rPr lang="en-US" dirty="0"/>
              <a:t>sum = 0</a:t>
            </a:r>
          </a:p>
          <a:p>
            <a:r>
              <a:rPr lang="en-US" dirty="0"/>
              <a:t>for num in numbers:</a:t>
            </a:r>
          </a:p>
          <a:p>
            <a:r>
              <a:rPr lang="en-US" dirty="0"/>
              <a:t>    sum += num</a:t>
            </a:r>
          </a:p>
          <a:p>
            <a:r>
              <a:rPr lang="en-US" dirty="0"/>
              <a:t>print(sum)</a:t>
            </a:r>
          </a:p>
          <a:p>
            <a:endParaRPr lang="en-US" dirty="0"/>
          </a:p>
          <a:p>
            <a:r>
              <a:rPr lang="en-US" dirty="0"/>
              <a:t>#With library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numbers = </a:t>
            </a:r>
            <a:r>
              <a:rPr lang="en-US" dirty="0" err="1"/>
              <a:t>np.array</a:t>
            </a:r>
            <a:r>
              <a:rPr lang="en-US" dirty="0"/>
              <a:t>([10, 20, 30, 40, 50])</a:t>
            </a:r>
          </a:p>
          <a:p>
            <a:r>
              <a:rPr lang="en-US" dirty="0"/>
              <a:t>print(</a:t>
            </a:r>
            <a:r>
              <a:rPr lang="en-US" dirty="0" err="1"/>
              <a:t>np.sum</a:t>
            </a:r>
            <a:r>
              <a:rPr lang="en-US" dirty="0"/>
              <a:t>(numbers))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D70E27-0F65-CF1B-CC2C-95B32917E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1" y="2645229"/>
            <a:ext cx="4844142" cy="322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80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CB68A4-536C-F450-170B-DC621B2938B9}"/>
              </a:ext>
            </a:extLst>
          </p:cNvPr>
          <p:cNvSpPr txBox="1"/>
          <p:nvPr/>
        </p:nvSpPr>
        <p:spPr>
          <a:xfrm>
            <a:off x="424543" y="315686"/>
            <a:ext cx="11342914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                                                              </a:t>
            </a:r>
            <a:r>
              <a:rPr lang="en-IN" b="1" dirty="0"/>
              <a:t>Why Do AI Developers Use Libraries?</a:t>
            </a:r>
          </a:p>
          <a:p>
            <a:r>
              <a:rPr lang="en-IN" dirty="0"/>
              <a:t>Artificial Intelligence is much more than writing simple programs.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Processing Large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Mathematical Calculations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Neural Networks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Visualization</a:t>
            </a:r>
          </a:p>
          <a:p>
            <a:endParaRPr lang="en-IN" dirty="0"/>
          </a:p>
          <a:p>
            <a:r>
              <a:rPr lang="en-IN" b="1" dirty="0"/>
              <a:t>Processing Large Data:</a:t>
            </a:r>
          </a:p>
          <a:p>
            <a:r>
              <a:rPr lang="en-IN" dirty="0"/>
              <a:t>AI models learn from data. The quality and quantity of data directly affect model performance.</a:t>
            </a:r>
          </a:p>
          <a:p>
            <a:r>
              <a:rPr lang="en-IN" dirty="0"/>
              <a:t>Examples:</a:t>
            </a:r>
          </a:p>
          <a:p>
            <a:r>
              <a:rPr lang="en-IN" dirty="0"/>
              <a:t>Netflix </a:t>
            </a:r>
            <a:r>
              <a:rPr lang="en-IN" dirty="0" err="1"/>
              <a:t>analyzes</a:t>
            </a:r>
            <a:r>
              <a:rPr lang="en-IN" dirty="0"/>
              <a:t> millions of viewing records. </a:t>
            </a:r>
          </a:p>
          <a:p>
            <a:r>
              <a:rPr lang="en-IN" dirty="0"/>
              <a:t>Amazon processes millions of purchase histories.</a:t>
            </a:r>
          </a:p>
          <a:p>
            <a:endParaRPr lang="en-IN" dirty="0"/>
          </a:p>
          <a:p>
            <a:r>
              <a:rPr lang="en-IN" b="1" dirty="0"/>
              <a:t>Performing Complex Mathematical Calculations:</a:t>
            </a:r>
          </a:p>
          <a:p>
            <a:r>
              <a:rPr lang="en-IN" dirty="0"/>
              <a:t>Machine Learning is built on mathematics.</a:t>
            </a:r>
          </a:p>
          <a:p>
            <a:r>
              <a:rPr lang="en-IN" dirty="0"/>
              <a:t>Ex:-  </a:t>
            </a:r>
            <a:r>
              <a:rPr lang="pt-BR" dirty="0"/>
              <a:t>A = [1 2]            B = [5 6]</a:t>
            </a:r>
          </a:p>
          <a:p>
            <a:r>
              <a:rPr lang="pt-BR" dirty="0"/>
              <a:t>                 [3 4]                     [7 8]</a:t>
            </a:r>
          </a:p>
          <a:p>
            <a:r>
              <a:rPr lang="pt-BR" b="1" dirty="0"/>
              <a:t>Using Libraries: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A = </a:t>
            </a:r>
            <a:r>
              <a:rPr lang="en-US" dirty="0" err="1"/>
              <a:t>np.array</a:t>
            </a:r>
            <a:r>
              <a:rPr lang="en-US" dirty="0"/>
              <a:t>([[1,2],[3,4]])</a:t>
            </a:r>
          </a:p>
          <a:p>
            <a:r>
              <a:rPr lang="en-US" dirty="0"/>
              <a:t>B = </a:t>
            </a:r>
            <a:r>
              <a:rPr lang="en-US" dirty="0" err="1"/>
              <a:t>np.array</a:t>
            </a:r>
            <a:r>
              <a:rPr lang="en-US" dirty="0"/>
              <a:t>([[5,6],[7,8]])</a:t>
            </a:r>
          </a:p>
          <a:p>
            <a:r>
              <a:rPr lang="en-US" dirty="0"/>
              <a:t>print(np.dot(A,B))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05480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105059-8379-7F79-64D0-BCB729305708}"/>
              </a:ext>
            </a:extLst>
          </p:cNvPr>
          <p:cNvSpPr txBox="1"/>
          <p:nvPr/>
        </p:nvSpPr>
        <p:spPr>
          <a:xfrm>
            <a:off x="481263" y="673768"/>
            <a:ext cx="11277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Training Machine Learning Models</a:t>
            </a:r>
          </a:p>
          <a:p>
            <a:r>
              <a:rPr lang="en-IN" dirty="0"/>
              <a:t>The main goal of Machine Learning is to teach computers to learn from data.</a:t>
            </a:r>
          </a:p>
          <a:p>
            <a:r>
              <a:rPr lang="en-IN" dirty="0"/>
              <a:t>Training means:- </a:t>
            </a:r>
          </a:p>
          <a:p>
            <a:r>
              <a:rPr lang="en-IN" dirty="0"/>
              <a:t>Providing data to a model. </a:t>
            </a:r>
          </a:p>
          <a:p>
            <a:r>
              <a:rPr lang="en-IN" dirty="0"/>
              <a:t>Allowing it to learn patterns. </a:t>
            </a:r>
          </a:p>
          <a:p>
            <a:r>
              <a:rPr lang="en-IN" dirty="0"/>
              <a:t>Using those patterns to make predictions.</a:t>
            </a: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46EFF55-2C9E-7A07-45D7-A2F5B29A58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8673270"/>
              </p:ext>
            </p:extLst>
          </p:nvPr>
        </p:nvGraphicFramePr>
        <p:xfrm>
          <a:off x="721895" y="3269774"/>
          <a:ext cx="10631906" cy="1463040"/>
        </p:xfrm>
        <a:graphic>
          <a:graphicData uri="http://schemas.openxmlformats.org/drawingml/2006/table">
            <a:tbl>
              <a:tblPr/>
              <a:tblGrid>
                <a:gridCol w="5315953">
                  <a:extLst>
                    <a:ext uri="{9D8B030D-6E8A-4147-A177-3AD203B41FA5}">
                      <a16:colId xmlns:a16="http://schemas.microsoft.com/office/drawing/2014/main" val="3304424881"/>
                    </a:ext>
                  </a:extLst>
                </a:gridCol>
                <a:gridCol w="5315953">
                  <a:extLst>
                    <a:ext uri="{9D8B030D-6E8A-4147-A177-3AD203B41FA5}">
                      <a16:colId xmlns:a16="http://schemas.microsoft.com/office/drawing/2014/main" val="10914141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Hours Studied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705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307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60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516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97082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1B86264-EFC8-2D3B-F575-198AD73A5373}"/>
              </a:ext>
            </a:extLst>
          </p:cNvPr>
          <p:cNvSpPr txBox="1"/>
          <p:nvPr/>
        </p:nvSpPr>
        <p:spPr>
          <a:xfrm>
            <a:off x="481263" y="26234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Student Marks Dataset: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C66A83-FCB1-0C88-6379-749F6F390C12}"/>
              </a:ext>
            </a:extLst>
          </p:cNvPr>
          <p:cNvSpPr txBox="1"/>
          <p:nvPr/>
        </p:nvSpPr>
        <p:spPr>
          <a:xfrm>
            <a:off x="705853" y="5221523"/>
            <a:ext cx="1063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The model learns the relationship between study hours and marks.</a:t>
            </a:r>
          </a:p>
        </p:txBody>
      </p:sp>
    </p:spTree>
    <p:extLst>
      <p:ext uri="{BB962C8B-B14F-4D97-AF65-F5344CB8AC3E}">
        <p14:creationId xmlns:p14="http://schemas.microsoft.com/office/powerpoint/2010/main" val="4150747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22BC1F-9B52-38FD-E408-B755092B3AC0}"/>
              </a:ext>
            </a:extLst>
          </p:cNvPr>
          <p:cNvSpPr txBox="1"/>
          <p:nvPr/>
        </p:nvSpPr>
        <p:spPr>
          <a:xfrm>
            <a:off x="721895" y="705853"/>
            <a:ext cx="107482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Building Neural Networks</a:t>
            </a:r>
          </a:p>
          <a:p>
            <a:r>
              <a:rPr lang="en-IN" dirty="0"/>
              <a:t>Neural Networks are the foundation of modern AI systems.</a:t>
            </a:r>
          </a:p>
          <a:p>
            <a:r>
              <a:rPr lang="en-IN" dirty="0"/>
              <a:t>Building a neural network manually involves:</a:t>
            </a:r>
          </a:p>
          <a:p>
            <a:r>
              <a:rPr lang="en-IN" dirty="0"/>
              <a:t>Matrix multiplications </a:t>
            </a:r>
          </a:p>
          <a:p>
            <a:r>
              <a:rPr lang="en-IN" dirty="0"/>
              <a:t>Weight updates </a:t>
            </a:r>
          </a:p>
          <a:p>
            <a:r>
              <a:rPr lang="en-IN" dirty="0"/>
              <a:t>Backpropagation </a:t>
            </a:r>
          </a:p>
          <a:p>
            <a:r>
              <a:rPr lang="en-IN" dirty="0"/>
              <a:t>Gradient Descent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2935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96C6E7-6A54-4037-FE9E-99DB34987532}"/>
              </a:ext>
            </a:extLst>
          </p:cNvPr>
          <p:cNvSpPr txBox="1"/>
          <p:nvPr/>
        </p:nvSpPr>
        <p:spPr>
          <a:xfrm>
            <a:off x="558036" y="719030"/>
            <a:ext cx="11245516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                                                                       </a:t>
            </a:r>
            <a:r>
              <a:rPr lang="en-IN" sz="2400" b="1" dirty="0"/>
              <a:t>Different Libraries</a:t>
            </a:r>
          </a:p>
          <a:p>
            <a:endParaRPr lang="en-IN" b="1" dirty="0"/>
          </a:p>
          <a:p>
            <a:r>
              <a:rPr lang="en-IN" b="1" dirty="0"/>
              <a:t>NumPy (Numerical Python):</a:t>
            </a:r>
          </a:p>
          <a:p>
            <a:r>
              <a:rPr lang="en-IN" dirty="0"/>
              <a:t>Used for numerical computing and mathematical operations.</a:t>
            </a:r>
          </a:p>
          <a:p>
            <a:r>
              <a:rPr lang="en-IN" dirty="0"/>
              <a:t>Ex:- </a:t>
            </a:r>
          </a:p>
          <a:p>
            <a:r>
              <a:rPr lang="en-IN" dirty="0"/>
              <a:t>Without NumPy:</a:t>
            </a:r>
          </a:p>
          <a:p>
            <a:r>
              <a:rPr lang="en-US" dirty="0"/>
              <a:t>     numbers = [1,2,3]</a:t>
            </a:r>
          </a:p>
          <a:p>
            <a:r>
              <a:rPr lang="en-US" dirty="0"/>
              <a:t>      result = []</a:t>
            </a:r>
          </a:p>
          <a:p>
            <a:r>
              <a:rPr lang="en-US" dirty="0"/>
              <a:t>      for num in numbers:</a:t>
            </a:r>
          </a:p>
          <a:p>
            <a:r>
              <a:rPr lang="en-US" dirty="0"/>
              <a:t>               </a:t>
            </a:r>
            <a:r>
              <a:rPr lang="en-US" dirty="0" err="1"/>
              <a:t>result.append</a:t>
            </a:r>
            <a:r>
              <a:rPr lang="en-US" dirty="0"/>
              <a:t>(num * 2)</a:t>
            </a:r>
          </a:p>
          <a:p>
            <a:r>
              <a:rPr lang="en-US" dirty="0"/>
              <a:t>      print(result)</a:t>
            </a:r>
          </a:p>
          <a:p>
            <a:endParaRPr lang="en-US" dirty="0"/>
          </a:p>
          <a:p>
            <a:r>
              <a:rPr lang="en-US" dirty="0"/>
              <a:t>With NumPy: </a:t>
            </a:r>
            <a:endParaRPr lang="en-IN" dirty="0"/>
          </a:p>
          <a:p>
            <a:r>
              <a:rPr lang="en-US" dirty="0"/>
              <a:t>                 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</a:p>
          <a:p>
            <a:r>
              <a:rPr lang="en-US" dirty="0"/>
              <a:t>                 a = </a:t>
            </a:r>
            <a:r>
              <a:rPr lang="en-US" dirty="0" err="1"/>
              <a:t>np.array</a:t>
            </a:r>
            <a:r>
              <a:rPr lang="en-US" dirty="0"/>
              <a:t>([10, 20, 30, 40, 50])</a:t>
            </a:r>
          </a:p>
          <a:p>
            <a:r>
              <a:rPr lang="en-US" dirty="0"/>
              <a:t>                  print(a *2)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135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ACC5ED3-00E8-4893-0B44-07C18C5BB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911963"/>
              </p:ext>
            </p:extLst>
          </p:nvPr>
        </p:nvGraphicFramePr>
        <p:xfrm>
          <a:off x="838200" y="1645920"/>
          <a:ext cx="10515600" cy="356616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056622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04170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Category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504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Array Creation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array()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zeros()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ones()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 err="1">
                          <a:latin typeface="Courier New" panose="02070309020205020404" pitchFamily="49" charset="0"/>
                        </a:rPr>
                        <a:t>arange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711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Math      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sum()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mean()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max()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min()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std()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3838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Shape  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shape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ndim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size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2620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47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Matrix  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dot()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matmul()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5478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5138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Statistics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ourier New" panose="02070309020205020404" pitchFamily="49" charset="0"/>
                        </a:rPr>
                        <a:t>median()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percentile()</a:t>
                      </a:r>
                      <a:r>
                        <a:rPr lang="en-IN" sz="2000"/>
                        <a:t>, </a:t>
                      </a:r>
                      <a:r>
                        <a:rPr lang="en-IN" sz="2000">
                          <a:latin typeface="Courier New" panose="02070309020205020404" pitchFamily="49" charset="0"/>
                        </a:rPr>
                        <a:t>corrcoef()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78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Sorting                                            </a:t>
                      </a:r>
                      <a:r>
                        <a:rPr lang="en-IN" sz="2000" dirty="0">
                          <a:sym typeface="Wingdings" panose="05000000000000000000" pitchFamily="2" charset="2"/>
                        </a:rPr>
                        <a:t>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ourier New" panose="02070309020205020404" pitchFamily="49" charset="0"/>
                        </a:rPr>
                        <a:t>sort()</a:t>
                      </a:r>
                      <a:r>
                        <a:rPr lang="en-IN" sz="2000" dirty="0"/>
                        <a:t>, </a:t>
                      </a:r>
                      <a:r>
                        <a:rPr lang="en-IN" sz="2000" dirty="0">
                          <a:latin typeface="Courier New" panose="02070309020205020404" pitchFamily="49" charset="0"/>
                        </a:rPr>
                        <a:t>where()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9042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675C2AA-530B-033E-4173-9C6439850887}"/>
              </a:ext>
            </a:extLst>
          </p:cNvPr>
          <p:cNvSpPr txBox="1"/>
          <p:nvPr/>
        </p:nvSpPr>
        <p:spPr>
          <a:xfrm>
            <a:off x="3418114" y="500742"/>
            <a:ext cx="9622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Different methods in NumPy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36506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17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532</Words>
  <Application>Microsoft Office PowerPoint</Application>
  <PresentationFormat>Widescreen</PresentationFormat>
  <Paragraphs>101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Wingdings</vt:lpstr>
      <vt:lpstr>Office Theme</vt:lpstr>
      <vt:lpstr>"Essential Python Libraries for AI Developers"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Srilekha Chundu</dc:creator>
  <cp:lastModifiedBy>Srilekha Chundu</cp:lastModifiedBy>
  <cp:revision>3</cp:revision>
  <dcterms:created xsi:type="dcterms:W3CDTF">2026-07-10T12:01:34Z</dcterms:created>
  <dcterms:modified xsi:type="dcterms:W3CDTF">2026-07-13T13:00:52Z</dcterms:modified>
</cp:coreProperties>
</file>