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0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FF06-A2D2-FD90-FFAB-8DAA3DC4B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B42D3-3516-FB89-4D79-6D30AA72F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0EF0E-609A-9A5F-74F5-65CA87F1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591D9-4458-8DA9-DD84-1AC8FC91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21CF9-BEFC-574E-9768-8D31DEBED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7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708E-094D-BE3A-2ED3-12891B7C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F7B0A-7069-7F07-4471-CF58D3D36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A93A0-5D49-8B9B-92AF-F697D71E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EEFEA-260E-8398-F611-FC7A03B27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5530-F904-2E15-4204-70EEE5BE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69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C1BA-EC0A-62CA-41DF-B56BFA322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41928-354D-1ECE-2EB5-062BE31B3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4D4DB-D6FC-CF03-59E4-1B441658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74F3B-2800-0854-1B46-9178FA7F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DF553-44D7-18B3-29CA-A39CF720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33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A0C7-CB9C-9D61-3401-04265321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6DBBE-D04D-E1D2-BE1E-0716E3FCF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B5A46-D017-DE92-E428-A30755128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32CF2-F7C7-985F-5D20-F81218C7F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7FBE9-3684-9E2B-5CB0-B1B2B020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73324-6367-EBE8-286C-28DAAF72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47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ADDB-7771-B6BD-4DFB-361466A8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253B9-B1C9-D0A6-6751-2B649AC71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E389D-4121-CCCA-1513-1593C4304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E12252-D274-6327-A16E-7DF989A9B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0C551-74AD-71F7-7083-A9023B316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88FB78-24F6-EA8D-F839-4CEF84C7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C523F7-7A3A-13B8-8ED3-10D578FA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B1D18-8E15-EBF7-F073-45DFD36A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60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C507-C987-AB8C-E6B3-BBDC2AF3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461BB-FDB0-9B2F-B77E-89908246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B477BF-1142-3526-C429-62A930E1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25570-000E-F483-78EF-EFB68539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257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1222F-FFBA-5284-9060-4FBAB38E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1A9CE-6955-B7D5-723C-AD0E531E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BEA6D-1320-63E1-5FC2-1097C60B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94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E3B5-C5F1-E700-3E46-8215A584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245A4-9EE2-6CA7-68F3-C7F0F0BBB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1BF02-D3F5-C7D1-E9EE-06EFF6412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7AA8C-0296-C9E4-2C04-305D1268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CF8D1-A4A7-6246-B1FC-AF22C893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D89BF-8049-B8BB-E1E9-EB6C73D1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DE31C-B03F-6794-4C99-09283A2A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255DC-5698-198C-700F-C29261583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8CCF1-0302-9264-9B98-04000AE69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C6668-9865-9012-5701-7FF66F78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7A201-B190-D76C-8E9C-EB6318AD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3330E-9C2C-36E1-A3B6-EC539A01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47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AB9A-DE0A-E9EE-184D-8A23E471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6CB98-5468-9114-6786-FAC3CF30D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B06C7-5C49-E266-3E61-7C33E89B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D4DE1-F29A-BADF-69A7-D4ADBC55D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2C492-67E8-58B7-E04D-EDA4B970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02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26E066-B17B-CE7E-7D11-DC4BACB14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2AD56-F6CA-F285-EC96-FE03509B8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236B3-7462-F852-8A42-8FEFE428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9976C-7DA4-3727-0236-C98E2409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2B895-4252-B74F-6FDA-0F432DE3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B96-BEAD-B26E-2DB9-366AEF91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91854-558E-A325-5813-9C667F89B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C8AE6-F6F4-BD7A-7C98-B078E1312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9E131-89F4-4BF3-B8CF-85E9E906BC4C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4659D-B9B5-1EAE-1448-BB5D3256F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95F32-A3A8-C26F-65CE-29E5D05CF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4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3BB9C-7F55-CB0E-07E2-A7619CC93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2849"/>
            <a:ext cx="9144000" cy="2387600"/>
          </a:xfrm>
        </p:spPr>
        <p:txBody>
          <a:bodyPr/>
          <a:lstStyle/>
          <a:p>
            <a:r>
              <a:rPr lang="en-IN" dirty="0"/>
              <a:t>"Essential Python Libraries for AI Developers"</a:t>
            </a:r>
          </a:p>
        </p:txBody>
      </p:sp>
    </p:spTree>
    <p:extLst>
      <p:ext uri="{BB962C8B-B14F-4D97-AF65-F5344CB8AC3E}">
        <p14:creationId xmlns:p14="http://schemas.microsoft.com/office/powerpoint/2010/main" val="2552538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C0D50-E9C9-8B5A-C967-1149F22D3E83}"/>
              </a:ext>
            </a:extLst>
          </p:cNvPr>
          <p:cNvSpPr txBox="1"/>
          <p:nvPr/>
        </p:nvSpPr>
        <p:spPr>
          <a:xfrm>
            <a:off x="544286" y="544286"/>
            <a:ext cx="10918371" cy="5730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Agenda: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What is a library?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Why do AI developers use libraries?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What are the benefits of libraries 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Different types of libraries:</a:t>
            </a:r>
          </a:p>
          <a:p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 err="1"/>
              <a:t>Numpy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Pandas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TensorFlow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 err="1"/>
              <a:t>Sklearn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 err="1"/>
              <a:t>Pytorch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NLTK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 err="1"/>
              <a:t>LangChain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 </a:t>
            </a:r>
            <a:r>
              <a:rPr lang="en-IN" dirty="0" err="1"/>
              <a:t>Comuter</a:t>
            </a:r>
            <a:r>
              <a:rPr lang="en-IN" dirty="0"/>
              <a:t> Vision</a:t>
            </a:r>
          </a:p>
        </p:txBody>
      </p:sp>
    </p:spTree>
    <p:extLst>
      <p:ext uri="{BB962C8B-B14F-4D97-AF65-F5344CB8AC3E}">
        <p14:creationId xmlns:p14="http://schemas.microsoft.com/office/powerpoint/2010/main" val="292602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21D885-39A9-6D1B-6FBC-966D64EE82A7}"/>
              </a:ext>
            </a:extLst>
          </p:cNvPr>
          <p:cNvSpPr txBox="1"/>
          <p:nvPr/>
        </p:nvSpPr>
        <p:spPr>
          <a:xfrm>
            <a:off x="549729" y="500743"/>
            <a:ext cx="1109254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                                      </a:t>
            </a:r>
            <a:r>
              <a:rPr lang="en-IN" sz="2400" b="1" dirty="0"/>
              <a:t>What is  a library?</a:t>
            </a:r>
          </a:p>
          <a:p>
            <a:r>
              <a:rPr lang="en-IN" dirty="0"/>
              <a:t>A library is a collection of pre-written code, functions, classes, and modules.</a:t>
            </a:r>
          </a:p>
          <a:p>
            <a:r>
              <a:rPr lang="en-IN" dirty="0"/>
              <a:t>Helps to not built every thing from scratch</a:t>
            </a:r>
          </a:p>
          <a:p>
            <a:endParaRPr lang="en-IN" dirty="0"/>
          </a:p>
          <a:p>
            <a:r>
              <a:rPr lang="en-IN" b="1" dirty="0"/>
              <a:t>Real word example: </a:t>
            </a:r>
          </a:p>
          <a:p>
            <a:r>
              <a:rPr lang="en-IN" dirty="0"/>
              <a:t>Without tools, you would need to make every brick, hammer, and nail yourself. </a:t>
            </a:r>
          </a:p>
          <a:p>
            <a:r>
              <a:rPr lang="en-IN" dirty="0"/>
              <a:t>With tools, you can directly use them to build the house faster.</a:t>
            </a:r>
          </a:p>
          <a:p>
            <a:r>
              <a:rPr lang="en-IN" b="1" dirty="0"/>
              <a:t>Ex:</a:t>
            </a:r>
          </a:p>
          <a:p>
            <a:r>
              <a:rPr lang="en-IN" dirty="0"/>
              <a:t># Without a library</a:t>
            </a:r>
          </a:p>
          <a:p>
            <a:r>
              <a:rPr lang="en-US" dirty="0"/>
              <a:t>numbers = [10, 20, 30, 40, 50]</a:t>
            </a:r>
          </a:p>
          <a:p>
            <a:r>
              <a:rPr lang="en-US" dirty="0"/>
              <a:t>sum = 0</a:t>
            </a:r>
          </a:p>
          <a:p>
            <a:r>
              <a:rPr lang="en-US" dirty="0"/>
              <a:t>for num in numbers:</a:t>
            </a:r>
          </a:p>
          <a:p>
            <a:r>
              <a:rPr lang="en-US" dirty="0"/>
              <a:t>    sum += num</a:t>
            </a:r>
          </a:p>
          <a:p>
            <a:r>
              <a:rPr lang="en-US" dirty="0"/>
              <a:t>print(sum)</a:t>
            </a:r>
          </a:p>
          <a:p>
            <a:endParaRPr lang="en-US" dirty="0"/>
          </a:p>
          <a:p>
            <a:r>
              <a:rPr lang="en-US" dirty="0"/>
              <a:t>#With library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numbers = </a:t>
            </a:r>
            <a:r>
              <a:rPr lang="en-US" dirty="0" err="1"/>
              <a:t>np.array</a:t>
            </a:r>
            <a:r>
              <a:rPr lang="en-US" dirty="0"/>
              <a:t>([10, 20, 30, 40, 50])</a:t>
            </a:r>
          </a:p>
          <a:p>
            <a:r>
              <a:rPr lang="en-US" dirty="0"/>
              <a:t>print(</a:t>
            </a:r>
            <a:r>
              <a:rPr lang="en-US" dirty="0" err="1"/>
              <a:t>np.sum</a:t>
            </a:r>
            <a:r>
              <a:rPr lang="en-US" dirty="0"/>
              <a:t>(numbers))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70E27-0F65-CF1B-CC2C-95B32917E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1" y="2645229"/>
            <a:ext cx="4844142" cy="322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8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CB68A4-536C-F450-170B-DC621B2938B9}"/>
              </a:ext>
            </a:extLst>
          </p:cNvPr>
          <p:cNvSpPr txBox="1"/>
          <p:nvPr/>
        </p:nvSpPr>
        <p:spPr>
          <a:xfrm>
            <a:off x="424543" y="304800"/>
            <a:ext cx="1134291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                                                               </a:t>
            </a:r>
            <a:r>
              <a:rPr lang="en-IN" sz="2000" b="1" dirty="0"/>
              <a:t>Why Do AI Developers Use Libraries?</a:t>
            </a:r>
          </a:p>
          <a:p>
            <a:r>
              <a:rPr lang="en-IN" dirty="0"/>
              <a:t>Artificial Intelligence is much more than writing simple programs.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Processing Large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Mathematical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Neural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Visualization</a:t>
            </a:r>
          </a:p>
          <a:p>
            <a:endParaRPr lang="en-IN" dirty="0"/>
          </a:p>
          <a:p>
            <a:r>
              <a:rPr lang="en-IN" b="1" dirty="0"/>
              <a:t>Processing Large Data:</a:t>
            </a:r>
          </a:p>
          <a:p>
            <a:r>
              <a:rPr lang="en-IN" dirty="0"/>
              <a:t>AI models learn from data. The quality and quantity of data directly affect model performance.</a:t>
            </a:r>
          </a:p>
          <a:p>
            <a:r>
              <a:rPr lang="en-IN" b="1" dirty="0"/>
              <a:t>Examples:</a:t>
            </a:r>
          </a:p>
          <a:p>
            <a:r>
              <a:rPr lang="en-IN" dirty="0"/>
              <a:t>Netflix </a:t>
            </a:r>
            <a:r>
              <a:rPr lang="en-IN" dirty="0" err="1"/>
              <a:t>analyzes</a:t>
            </a:r>
            <a:r>
              <a:rPr lang="en-IN" dirty="0"/>
              <a:t> millions of viewing records. </a:t>
            </a:r>
          </a:p>
          <a:p>
            <a:r>
              <a:rPr lang="en-IN" dirty="0"/>
              <a:t>Amazon processes millions of purchase histories.</a:t>
            </a:r>
          </a:p>
          <a:p>
            <a:endParaRPr lang="en-IN" dirty="0"/>
          </a:p>
          <a:p>
            <a:r>
              <a:rPr lang="en-IN" b="1" dirty="0"/>
              <a:t>Performing Complex Mathematical Calculations:</a:t>
            </a:r>
          </a:p>
          <a:p>
            <a:r>
              <a:rPr lang="en-IN" dirty="0"/>
              <a:t>Machine Learning is built on mathematics.</a:t>
            </a:r>
          </a:p>
          <a:p>
            <a:r>
              <a:rPr lang="en-IN" dirty="0"/>
              <a:t>Ex:-  </a:t>
            </a:r>
            <a:r>
              <a:rPr lang="pt-BR" dirty="0"/>
              <a:t>A = [1 2]            B = [5 6]</a:t>
            </a:r>
          </a:p>
          <a:p>
            <a:r>
              <a:rPr lang="pt-BR" dirty="0"/>
              <a:t>                 [3 4]                     [7 8]</a:t>
            </a:r>
          </a:p>
          <a:p>
            <a:r>
              <a:rPr lang="pt-BR" b="1" dirty="0"/>
              <a:t>Using Libraries: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A = </a:t>
            </a:r>
            <a:r>
              <a:rPr lang="en-US" dirty="0" err="1"/>
              <a:t>np.array</a:t>
            </a:r>
            <a:r>
              <a:rPr lang="en-US" dirty="0"/>
              <a:t>([[1,2],[3,4]])</a:t>
            </a:r>
          </a:p>
          <a:p>
            <a:r>
              <a:rPr lang="en-US" dirty="0"/>
              <a:t>B = </a:t>
            </a:r>
            <a:r>
              <a:rPr lang="en-US" dirty="0" err="1"/>
              <a:t>np.array</a:t>
            </a:r>
            <a:r>
              <a:rPr lang="en-US" dirty="0"/>
              <a:t>([[5,6],[7,8]])</a:t>
            </a:r>
          </a:p>
          <a:p>
            <a:r>
              <a:rPr lang="en-US" dirty="0"/>
              <a:t>print(np.dot(A,B))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5480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105059-8379-7F79-64D0-BCB729305708}"/>
              </a:ext>
            </a:extLst>
          </p:cNvPr>
          <p:cNvSpPr txBox="1"/>
          <p:nvPr/>
        </p:nvSpPr>
        <p:spPr>
          <a:xfrm>
            <a:off x="481263" y="673768"/>
            <a:ext cx="11277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Training Machine Learning Models</a:t>
            </a:r>
          </a:p>
          <a:p>
            <a:r>
              <a:rPr lang="en-IN" dirty="0"/>
              <a:t>The main goal of Machine Learning is to teach computers to learn from data.</a:t>
            </a:r>
          </a:p>
          <a:p>
            <a:r>
              <a:rPr lang="en-IN" dirty="0"/>
              <a:t>Training means:- </a:t>
            </a:r>
          </a:p>
          <a:p>
            <a:r>
              <a:rPr lang="en-IN" dirty="0"/>
              <a:t>Providing data to a model. </a:t>
            </a:r>
          </a:p>
          <a:p>
            <a:r>
              <a:rPr lang="en-IN" dirty="0"/>
              <a:t>Allowing it to learn patterns. </a:t>
            </a:r>
          </a:p>
          <a:p>
            <a:r>
              <a:rPr lang="en-IN" dirty="0"/>
              <a:t>Using those patterns to make predictions.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6EFF55-2C9E-7A07-45D7-A2F5B29A5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416498"/>
              </p:ext>
            </p:extLst>
          </p:nvPr>
        </p:nvGraphicFramePr>
        <p:xfrm>
          <a:off x="721895" y="3269774"/>
          <a:ext cx="10631906" cy="1463040"/>
        </p:xfrm>
        <a:graphic>
          <a:graphicData uri="http://schemas.openxmlformats.org/drawingml/2006/table">
            <a:tbl>
              <a:tblPr/>
              <a:tblGrid>
                <a:gridCol w="5315953">
                  <a:extLst>
                    <a:ext uri="{9D8B030D-6E8A-4147-A177-3AD203B41FA5}">
                      <a16:colId xmlns:a16="http://schemas.microsoft.com/office/drawing/2014/main" val="3304424881"/>
                    </a:ext>
                  </a:extLst>
                </a:gridCol>
                <a:gridCol w="5315953">
                  <a:extLst>
                    <a:ext uri="{9D8B030D-6E8A-4147-A177-3AD203B41FA5}">
                      <a16:colId xmlns:a16="http://schemas.microsoft.com/office/drawing/2014/main" val="1091414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Hours Studied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05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307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516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7082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B86264-EFC8-2D3B-F575-198AD73A5373}"/>
              </a:ext>
            </a:extLst>
          </p:cNvPr>
          <p:cNvSpPr txBox="1"/>
          <p:nvPr/>
        </p:nvSpPr>
        <p:spPr>
          <a:xfrm>
            <a:off x="481263" y="26234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Student Marks Dataset: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66A83-FCB1-0C88-6379-749F6F390C12}"/>
              </a:ext>
            </a:extLst>
          </p:cNvPr>
          <p:cNvSpPr txBox="1"/>
          <p:nvPr/>
        </p:nvSpPr>
        <p:spPr>
          <a:xfrm>
            <a:off x="705853" y="5221523"/>
            <a:ext cx="106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model learns the relationship between study hours and marks.</a:t>
            </a:r>
          </a:p>
        </p:txBody>
      </p:sp>
    </p:spTree>
    <p:extLst>
      <p:ext uri="{BB962C8B-B14F-4D97-AF65-F5344CB8AC3E}">
        <p14:creationId xmlns:p14="http://schemas.microsoft.com/office/powerpoint/2010/main" val="4150747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2BC1F-9B52-38FD-E408-B755092B3AC0}"/>
              </a:ext>
            </a:extLst>
          </p:cNvPr>
          <p:cNvSpPr txBox="1"/>
          <p:nvPr/>
        </p:nvSpPr>
        <p:spPr>
          <a:xfrm>
            <a:off x="721895" y="705853"/>
            <a:ext cx="10748210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Building Neural Networks</a:t>
            </a:r>
          </a:p>
          <a:p>
            <a:pPr>
              <a:lnSpc>
                <a:spcPct val="150000"/>
              </a:lnSpc>
            </a:pPr>
            <a:r>
              <a:rPr lang="en-IN" dirty="0"/>
              <a:t>Neural Networks are the foundation of modern AI systems.</a:t>
            </a:r>
          </a:p>
          <a:p>
            <a:pPr>
              <a:lnSpc>
                <a:spcPct val="150000"/>
              </a:lnSpc>
            </a:pPr>
            <a:r>
              <a:rPr lang="en-IN" dirty="0"/>
              <a:t>Building a neural network manually involves:</a:t>
            </a:r>
          </a:p>
          <a:p>
            <a:pPr>
              <a:lnSpc>
                <a:spcPct val="150000"/>
              </a:lnSpc>
            </a:pPr>
            <a:r>
              <a:rPr lang="en-IN" dirty="0"/>
              <a:t>Matrix multiplications </a:t>
            </a:r>
          </a:p>
          <a:p>
            <a:pPr>
              <a:lnSpc>
                <a:spcPct val="150000"/>
              </a:lnSpc>
            </a:pPr>
            <a:r>
              <a:rPr lang="en-IN" dirty="0"/>
              <a:t>Weight updates </a:t>
            </a:r>
          </a:p>
          <a:p>
            <a:pPr>
              <a:lnSpc>
                <a:spcPct val="150000"/>
              </a:lnSpc>
            </a:pPr>
            <a:r>
              <a:rPr lang="en-IN" dirty="0"/>
              <a:t>Backpropagation </a:t>
            </a:r>
          </a:p>
          <a:p>
            <a:pPr>
              <a:lnSpc>
                <a:spcPct val="150000"/>
              </a:lnSpc>
            </a:pPr>
            <a:r>
              <a:rPr lang="en-IN" dirty="0"/>
              <a:t>Gradient Descent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93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505364-1782-6EC1-3466-592469ED37BC}"/>
              </a:ext>
            </a:extLst>
          </p:cNvPr>
          <p:cNvSpPr txBox="1"/>
          <p:nvPr/>
        </p:nvSpPr>
        <p:spPr>
          <a:xfrm>
            <a:off x="447367" y="380999"/>
            <a:ext cx="11297265" cy="617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                                                                    What are the benefits of libraries?</a:t>
            </a:r>
          </a:p>
          <a:p>
            <a:pPr>
              <a:lnSpc>
                <a:spcPct val="150000"/>
              </a:lnSpc>
            </a:pPr>
            <a:r>
              <a:rPr lang="en-IN" b="1" dirty="0"/>
              <a:t>Faster Development:</a:t>
            </a:r>
          </a:p>
          <a:p>
            <a:pPr>
              <a:lnSpc>
                <a:spcPct val="150000"/>
              </a:lnSpc>
            </a:pPr>
            <a:r>
              <a:rPr lang="en-IN" dirty="0"/>
              <a:t>Libraries provide ready-made functions that perform tasks instantly.</a:t>
            </a:r>
          </a:p>
          <a:p>
            <a:pPr>
              <a:lnSpc>
                <a:spcPct val="150000"/>
              </a:lnSpc>
            </a:pPr>
            <a:r>
              <a:rPr lang="en-IN" dirty="0"/>
              <a:t>Developers don't need to write lengthy code.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Reduces Complexity:</a:t>
            </a:r>
          </a:p>
          <a:p>
            <a:pPr>
              <a:lnSpc>
                <a:spcPct val="150000"/>
              </a:lnSpc>
            </a:pPr>
            <a:r>
              <a:rPr lang="en-IN" dirty="0"/>
              <a:t>AI involves complicated mathematical operations.</a:t>
            </a:r>
          </a:p>
          <a:p>
            <a:pPr>
              <a:lnSpc>
                <a:spcPct val="150000"/>
              </a:lnSpc>
            </a:pPr>
            <a:r>
              <a:rPr lang="en-IN" dirty="0"/>
              <a:t>Libraries simplify these operations.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Code Reusability:</a:t>
            </a:r>
          </a:p>
          <a:p>
            <a:pPr>
              <a:lnSpc>
                <a:spcPct val="150000"/>
              </a:lnSpc>
            </a:pPr>
            <a:r>
              <a:rPr lang="en-IN" dirty="0"/>
              <a:t>Libraries allow developers to reuse existing code.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Easy Learning:</a:t>
            </a:r>
          </a:p>
          <a:p>
            <a:pPr>
              <a:lnSpc>
                <a:spcPct val="150000"/>
              </a:lnSpc>
            </a:pPr>
            <a:r>
              <a:rPr lang="en-IN" dirty="0"/>
              <a:t>Libraries provide simple and beginner-friendly syntax.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Scalability:</a:t>
            </a:r>
          </a:p>
          <a:p>
            <a:pPr>
              <a:lnSpc>
                <a:spcPct val="150000"/>
              </a:lnSpc>
            </a:pPr>
            <a:r>
              <a:rPr lang="en-IN" dirty="0"/>
              <a:t>Libraries can handle both small and large projects.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Access to Advanced Technologies</a:t>
            </a:r>
          </a:p>
          <a:p>
            <a:pPr>
              <a:lnSpc>
                <a:spcPct val="150000"/>
              </a:lnSpc>
            </a:pPr>
            <a:r>
              <a:rPr lang="en-IN" dirty="0"/>
              <a:t>Libraries provide access to advanced AI techniques.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44165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96C6E7-6A54-4037-FE9E-99DB34987532}"/>
              </a:ext>
            </a:extLst>
          </p:cNvPr>
          <p:cNvSpPr txBox="1"/>
          <p:nvPr/>
        </p:nvSpPr>
        <p:spPr>
          <a:xfrm>
            <a:off x="558036" y="719030"/>
            <a:ext cx="1124551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                                                                  </a:t>
            </a:r>
            <a:r>
              <a:rPr lang="en-IN" sz="2400" b="1" dirty="0"/>
              <a:t>Different Libraries</a:t>
            </a:r>
          </a:p>
          <a:p>
            <a:endParaRPr lang="en-IN" b="1" dirty="0"/>
          </a:p>
          <a:p>
            <a:r>
              <a:rPr lang="en-IN" b="1" dirty="0"/>
              <a:t>NumPy (Numerical Python):</a:t>
            </a:r>
          </a:p>
          <a:p>
            <a:r>
              <a:rPr lang="en-IN" dirty="0"/>
              <a:t>Used for numerical computing and mathematical operations.</a:t>
            </a:r>
          </a:p>
          <a:p>
            <a:r>
              <a:rPr lang="en-IN" dirty="0"/>
              <a:t>Ex:- </a:t>
            </a:r>
          </a:p>
          <a:p>
            <a:r>
              <a:rPr lang="en-IN" dirty="0"/>
              <a:t>Without NumPy:</a:t>
            </a:r>
          </a:p>
          <a:p>
            <a:r>
              <a:rPr lang="en-US" dirty="0"/>
              <a:t>     numbers = [1,2,3]</a:t>
            </a:r>
          </a:p>
          <a:p>
            <a:r>
              <a:rPr lang="en-US" dirty="0"/>
              <a:t>      result = []</a:t>
            </a:r>
          </a:p>
          <a:p>
            <a:r>
              <a:rPr lang="en-US" dirty="0"/>
              <a:t>      for num in numbers:</a:t>
            </a:r>
          </a:p>
          <a:p>
            <a:r>
              <a:rPr lang="en-US" dirty="0"/>
              <a:t>               </a:t>
            </a:r>
            <a:r>
              <a:rPr lang="en-US" dirty="0" err="1"/>
              <a:t>result.append</a:t>
            </a:r>
            <a:r>
              <a:rPr lang="en-US" dirty="0"/>
              <a:t>(num * 2)</a:t>
            </a:r>
          </a:p>
          <a:p>
            <a:r>
              <a:rPr lang="en-US" dirty="0"/>
              <a:t>      print(result)</a:t>
            </a:r>
          </a:p>
          <a:p>
            <a:endParaRPr lang="en-US" dirty="0"/>
          </a:p>
          <a:p>
            <a:r>
              <a:rPr lang="en-US" dirty="0"/>
              <a:t>With NumPy: </a:t>
            </a:r>
            <a:endParaRPr lang="en-IN" dirty="0"/>
          </a:p>
          <a:p>
            <a:r>
              <a:rPr lang="en-US" dirty="0"/>
              <a:t>                 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                 a = </a:t>
            </a:r>
            <a:r>
              <a:rPr lang="en-US" dirty="0" err="1"/>
              <a:t>np.array</a:t>
            </a:r>
            <a:r>
              <a:rPr lang="en-US" dirty="0"/>
              <a:t>([10, 20, 30, 40, 50])</a:t>
            </a:r>
          </a:p>
          <a:p>
            <a:r>
              <a:rPr lang="en-US" dirty="0"/>
              <a:t>                  print(a *2)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1357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CC5ED3-00E8-4893-0B44-07C18C5BB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911963"/>
              </p:ext>
            </p:extLst>
          </p:nvPr>
        </p:nvGraphicFramePr>
        <p:xfrm>
          <a:off x="838200" y="1645920"/>
          <a:ext cx="10515600" cy="35661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05662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04170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504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Array Creation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array()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zeros()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ones()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 err="1">
                          <a:latin typeface="Courier New" panose="02070309020205020404" pitchFamily="49" charset="0"/>
                        </a:rPr>
                        <a:t>arange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71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Math    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sum()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mean()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max()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min()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std()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38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Shape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shape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ndim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size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62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4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Matrix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dot()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matmul()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78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138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Statistics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median()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percentile()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corrcoef()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Sorting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sort()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where()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9042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675C2AA-530B-033E-4173-9C6439850887}"/>
              </a:ext>
            </a:extLst>
          </p:cNvPr>
          <p:cNvSpPr txBox="1"/>
          <p:nvPr/>
        </p:nvSpPr>
        <p:spPr>
          <a:xfrm>
            <a:off x="3418114" y="500742"/>
            <a:ext cx="9622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Different methods in NumPy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36506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485F08-B6EE-BD33-D643-23EBE266E566}"/>
              </a:ext>
            </a:extLst>
          </p:cNvPr>
          <p:cNvSpPr txBox="1"/>
          <p:nvPr/>
        </p:nvSpPr>
        <p:spPr>
          <a:xfrm>
            <a:off x="757084" y="566311"/>
            <a:ext cx="1067783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Pandas </a:t>
            </a:r>
          </a:p>
          <a:p>
            <a:endParaRPr lang="en-US" sz="2000" b="1" dirty="0"/>
          </a:p>
          <a:p>
            <a:r>
              <a:rPr lang="en-IN" dirty="0"/>
              <a:t>Pandas is a powerful Python library used for data manipulation, data analysis, and data processing.</a:t>
            </a:r>
          </a:p>
          <a:p>
            <a:r>
              <a:rPr lang="en-IN" dirty="0"/>
              <a:t>Pandas helps developers work with large datasets efficiently by providing easy-to-use data structures and built-in functions.</a:t>
            </a:r>
          </a:p>
          <a:p>
            <a:r>
              <a:rPr lang="en-IN" b="1" dirty="0"/>
              <a:t>Data Manipulation:</a:t>
            </a:r>
          </a:p>
          <a:p>
            <a:r>
              <a:rPr lang="en-IN" dirty="0"/>
              <a:t>Data Manipulation is the process of changing, organizing, and preparing raw data so that it becomes useful for analysis and machine learning.</a:t>
            </a:r>
          </a:p>
          <a:p>
            <a:r>
              <a:rPr lang="en-IN" b="1" dirty="0"/>
              <a:t>Modifying Data</a:t>
            </a:r>
          </a:p>
          <a:p>
            <a:r>
              <a:rPr lang="en-IN" dirty="0"/>
              <a:t>Modifying means changing existing data values.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55E154-6EEB-1AB8-FD9D-5BA6326B1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664242"/>
              </p:ext>
            </p:extLst>
          </p:nvPr>
        </p:nvGraphicFramePr>
        <p:xfrm>
          <a:off x="919316" y="3429000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522250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78350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393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856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377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051844-5712-3115-C46D-550B075FB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279019"/>
              </p:ext>
            </p:extLst>
          </p:nvPr>
        </p:nvGraphicFramePr>
        <p:xfrm>
          <a:off x="838200" y="4849762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999059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2278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725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745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3480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152AE1-E1B2-0870-7F92-5558AEEBB5A9}"/>
              </a:ext>
            </a:extLst>
          </p:cNvPr>
          <p:cNvSpPr txBox="1"/>
          <p:nvPr/>
        </p:nvSpPr>
        <p:spPr>
          <a:xfrm>
            <a:off x="838200" y="44804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After modification:</a:t>
            </a:r>
          </a:p>
        </p:txBody>
      </p:sp>
    </p:spTree>
    <p:extLst>
      <p:ext uri="{BB962C8B-B14F-4D97-AF65-F5344CB8AC3E}">
        <p14:creationId xmlns:p14="http://schemas.microsoft.com/office/powerpoint/2010/main" val="209417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430039-94B6-6198-8E96-5E0C16542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449945"/>
              </p:ext>
            </p:extLst>
          </p:nvPr>
        </p:nvGraphicFramePr>
        <p:xfrm>
          <a:off x="641683" y="3685831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692700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798531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2479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60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Hyderabad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872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Chennai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89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Vijayawada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9302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9FE28D-01B7-7D8B-2DE2-2F97ED9A0CFE}"/>
              </a:ext>
            </a:extLst>
          </p:cNvPr>
          <p:cNvSpPr txBox="1"/>
          <p:nvPr/>
        </p:nvSpPr>
        <p:spPr>
          <a:xfrm>
            <a:off x="641683" y="894506"/>
            <a:ext cx="78125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Organizing Data</a:t>
            </a:r>
          </a:p>
          <a:p>
            <a:pPr>
              <a:buNone/>
            </a:pPr>
            <a:r>
              <a:rPr lang="en-IN" sz="2000" dirty="0"/>
              <a:t>Organizing means arranging data in a structured format.</a:t>
            </a:r>
          </a:p>
          <a:p>
            <a:pPr>
              <a:buNone/>
            </a:pPr>
            <a:r>
              <a:rPr lang="en-IN" sz="2000" b="1" dirty="0"/>
              <a:t>Ex: 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Ram, 85, Hyderabad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Priya, 90, Chennai</a:t>
            </a:r>
          </a:p>
          <a:p>
            <a:pPr rtl="0">
              <a:buNone/>
            </a:pPr>
            <a:r>
              <a:rPr lang="en-IN" sz="2000" dirty="0">
                <a:latin typeface="Courier New" panose="02070309020205020404" pitchFamily="49" charset="0"/>
              </a:rPr>
              <a:t>Ravi, 80, Vijayawada</a:t>
            </a:r>
          </a:p>
          <a:p>
            <a:pPr rtl="0">
              <a:buNone/>
            </a:pPr>
            <a:endParaRPr lang="en-IN" sz="2000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2000" b="1" dirty="0"/>
              <a:t>Organized Data</a:t>
            </a:r>
          </a:p>
        </p:txBody>
      </p:sp>
    </p:spTree>
    <p:extLst>
      <p:ext uri="{BB962C8B-B14F-4D97-AF65-F5344CB8AC3E}">
        <p14:creationId xmlns:p14="http://schemas.microsoft.com/office/powerpoint/2010/main" val="2779548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63206E-E328-6233-666C-90AC0BB2D3A3}"/>
              </a:ext>
            </a:extLst>
          </p:cNvPr>
          <p:cNvSpPr txBox="1"/>
          <p:nvPr/>
        </p:nvSpPr>
        <p:spPr>
          <a:xfrm>
            <a:off x="497305" y="705853"/>
            <a:ext cx="110530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Transforming Data</a:t>
            </a:r>
          </a:p>
          <a:p>
            <a:r>
              <a:rPr lang="en-IN" dirty="0"/>
              <a:t>Transforming means converting data from one format into another.</a:t>
            </a:r>
          </a:p>
          <a:p>
            <a:endParaRPr lang="en-IN" dirty="0"/>
          </a:p>
          <a:p>
            <a:r>
              <a:rPr lang="en-IN" dirty="0"/>
              <a:t>13-07-2026</a:t>
            </a:r>
          </a:p>
          <a:p>
            <a:r>
              <a:rPr lang="en-IN" dirty="0"/>
              <a:t>Transformed to:</a:t>
            </a:r>
          </a:p>
          <a:p>
            <a:r>
              <a:rPr lang="en-IN" dirty="0"/>
              <a:t>July 13, 2026</a:t>
            </a:r>
          </a:p>
          <a:p>
            <a:endParaRPr lang="en-IN" dirty="0"/>
          </a:p>
          <a:p>
            <a:r>
              <a:rPr lang="en-IN" b="1" dirty="0"/>
              <a:t>Filtering Data</a:t>
            </a:r>
          </a:p>
          <a:p>
            <a:r>
              <a:rPr lang="en-IN" dirty="0"/>
              <a:t>Filtering means selecting only the required information.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19687A-0FED-F5AF-304B-22381C23A66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2927677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32955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104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6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Ravi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763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7454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EBC639-0D9A-19B0-AAA9-DCEADA48E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363427"/>
              </p:ext>
            </p:extLst>
          </p:nvPr>
        </p:nvGraphicFramePr>
        <p:xfrm>
          <a:off x="838200" y="5080745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359972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310719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080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40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3005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ED30401-B94E-D9AF-A987-1FAB3B53F2FC}"/>
              </a:ext>
            </a:extLst>
          </p:cNvPr>
          <p:cNvSpPr txBox="1"/>
          <p:nvPr/>
        </p:nvSpPr>
        <p:spPr>
          <a:xfrm>
            <a:off x="766010" y="4688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 we want only students scoring above 80:</a:t>
            </a:r>
          </a:p>
        </p:txBody>
      </p:sp>
    </p:spTree>
    <p:extLst>
      <p:ext uri="{BB962C8B-B14F-4D97-AF65-F5344CB8AC3E}">
        <p14:creationId xmlns:p14="http://schemas.microsoft.com/office/powerpoint/2010/main" val="2102504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D6FD10-B9C2-E672-FB82-29E5127ED78E}"/>
              </a:ext>
            </a:extLst>
          </p:cNvPr>
          <p:cNvSpPr txBox="1"/>
          <p:nvPr/>
        </p:nvSpPr>
        <p:spPr>
          <a:xfrm>
            <a:off x="593558" y="834189"/>
            <a:ext cx="108284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Analysis</a:t>
            </a:r>
          </a:p>
          <a:p>
            <a:r>
              <a:rPr lang="en-IN" b="1" dirty="0"/>
              <a:t>Data Analysis</a:t>
            </a:r>
            <a:r>
              <a:rPr lang="en-IN" dirty="0"/>
              <a:t> is the process of examining data to discover useful information, patterns, trends, and insights that help in decision-making.</a:t>
            </a:r>
          </a:p>
          <a:p>
            <a:r>
              <a:rPr lang="en-IN" dirty="0"/>
              <a:t>Once data is cleaned and organized, it must be </a:t>
            </a:r>
            <a:r>
              <a:rPr lang="en-IN" dirty="0" err="1"/>
              <a:t>analyzed</a:t>
            </a:r>
            <a:r>
              <a:rPr lang="en-IN" dirty="0"/>
              <a:t> to understand what it tells us.</a:t>
            </a:r>
          </a:p>
          <a:p>
            <a:endParaRPr lang="en-IN" dirty="0"/>
          </a:p>
          <a:p>
            <a:r>
              <a:rPr lang="en-IN" dirty="0"/>
              <a:t>import pandas as pd</a:t>
            </a:r>
          </a:p>
          <a:p>
            <a:r>
              <a:rPr lang="en-IN" dirty="0"/>
              <a:t>data = {</a:t>
            </a:r>
          </a:p>
          <a:p>
            <a:r>
              <a:rPr lang="en-IN" dirty="0"/>
              <a:t>    "Name": ["Ram", "Ravi", "Priya"],</a:t>
            </a:r>
          </a:p>
          <a:p>
            <a:r>
              <a:rPr lang="en-IN" dirty="0"/>
              <a:t>    "Marks": [85, 90, 88]</a:t>
            </a:r>
          </a:p>
          <a:p>
            <a:r>
              <a:rPr lang="en-IN" dirty="0"/>
              <a:t>}</a:t>
            </a:r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(data)</a:t>
            </a:r>
          </a:p>
          <a:p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import pandas as pd</a:t>
            </a:r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pd.read_csv</a:t>
            </a:r>
            <a:r>
              <a:rPr lang="en-IN" dirty="0"/>
              <a:t>("students.</a:t>
            </a:r>
            <a:r>
              <a:rPr lang="en-IN"/>
              <a:t>csv")</a:t>
            </a:r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3523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AC2E1D-2F0A-0C5A-5B75-D374854162B7}"/>
              </a:ext>
            </a:extLst>
          </p:cNvPr>
          <p:cNvSpPr txBox="1"/>
          <p:nvPr/>
        </p:nvSpPr>
        <p:spPr>
          <a:xfrm>
            <a:off x="609600" y="467848"/>
            <a:ext cx="10972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Matplotlib</a:t>
            </a:r>
          </a:p>
          <a:p>
            <a:endParaRPr lang="en-IN" sz="2000" b="1" dirty="0"/>
          </a:p>
          <a:p>
            <a:r>
              <a:rPr lang="en-IN" dirty="0"/>
              <a:t>Matplotlib is a Python library that helps visualize data using graphs and charts, making it easier to understand patterns, trends, and relationships.</a:t>
            </a:r>
          </a:p>
          <a:p>
            <a:endParaRPr lang="en-IN" dirty="0"/>
          </a:p>
          <a:p>
            <a:r>
              <a:rPr lang="en-IN" dirty="0"/>
              <a:t>Syntax: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IN" dirty="0"/>
              <a:t>matplotlib → Main library</a:t>
            </a:r>
          </a:p>
          <a:p>
            <a:r>
              <a:rPr lang="en-IN" dirty="0"/>
              <a:t> </a:t>
            </a:r>
            <a:r>
              <a:rPr lang="en-IN" dirty="0" err="1"/>
              <a:t>pyplot</a:t>
            </a:r>
            <a:r>
              <a:rPr lang="en-IN" dirty="0"/>
              <a:t> → Module used for plotting graphs </a:t>
            </a:r>
          </a:p>
          <a:p>
            <a:r>
              <a:rPr lang="en-IN" dirty="0" err="1"/>
              <a:t>plt</a:t>
            </a:r>
            <a:r>
              <a:rPr lang="en-IN" dirty="0"/>
              <a:t> → Common alias</a:t>
            </a:r>
          </a:p>
          <a:p>
            <a:endParaRPr lang="en-IN" dirty="0"/>
          </a:p>
          <a:p>
            <a:r>
              <a:rPr lang="en-IN" dirty="0"/>
              <a:t>EX:</a:t>
            </a:r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r>
              <a:rPr lang="en-IN" dirty="0"/>
              <a:t>x = [1,2,3]</a:t>
            </a:r>
          </a:p>
          <a:p>
            <a:r>
              <a:rPr lang="en-IN" dirty="0"/>
              <a:t>y = [4,5,6]</a:t>
            </a:r>
          </a:p>
          <a:p>
            <a:r>
              <a:rPr lang="en-IN" dirty="0" err="1"/>
              <a:t>plt.plot</a:t>
            </a:r>
            <a:r>
              <a:rPr lang="en-IN" dirty="0"/>
              <a:t>(</a:t>
            </a:r>
            <a:r>
              <a:rPr lang="en-IN" dirty="0" err="1"/>
              <a:t>x,y</a:t>
            </a:r>
            <a:r>
              <a:rPr lang="en-IN" dirty="0"/>
              <a:t>)</a:t>
            </a:r>
          </a:p>
          <a:p>
            <a:r>
              <a:rPr lang="en-IN" dirty="0" err="1"/>
              <a:t>plt.xlabel</a:t>
            </a:r>
            <a:r>
              <a:rPr lang="en-IN" dirty="0"/>
              <a:t>("X Values")</a:t>
            </a:r>
          </a:p>
          <a:p>
            <a:r>
              <a:rPr lang="en-IN" dirty="0" err="1"/>
              <a:t>plt.ylabel</a:t>
            </a:r>
            <a:r>
              <a:rPr lang="en-IN" dirty="0"/>
              <a:t>("Y Values")</a:t>
            </a:r>
          </a:p>
          <a:p>
            <a:r>
              <a:rPr lang="en-IN" dirty="0" err="1"/>
              <a:t>plt.title</a:t>
            </a:r>
            <a:r>
              <a:rPr lang="en-IN" dirty="0"/>
              <a:t>("Simple Line Graph")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22014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3FFFA3-60DC-1895-A995-37B5DD095779}"/>
              </a:ext>
            </a:extLst>
          </p:cNvPr>
          <p:cNvSpPr txBox="1"/>
          <p:nvPr/>
        </p:nvSpPr>
        <p:spPr>
          <a:xfrm>
            <a:off x="653143" y="522514"/>
            <a:ext cx="106299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Features of Matplotlib</a:t>
            </a:r>
          </a:p>
          <a:p>
            <a:pPr marL="342900" indent="-342900">
              <a:buAutoNum type="arabicPeriod"/>
            </a:pPr>
            <a:r>
              <a:rPr lang="en-IN" b="1" dirty="0"/>
              <a:t>Line Charts:</a:t>
            </a:r>
          </a:p>
          <a:p>
            <a:r>
              <a:rPr lang="en-IN" dirty="0"/>
              <a:t>        Used to show trends over time.</a:t>
            </a:r>
          </a:p>
          <a:p>
            <a:r>
              <a:rPr lang="en-IN" dirty="0"/>
              <a:t>        </a:t>
            </a:r>
            <a:r>
              <a:rPr lang="en-IN" dirty="0" err="1"/>
              <a:t>plt.plot</a:t>
            </a:r>
            <a:r>
              <a:rPr lang="en-IN" dirty="0"/>
              <a:t>()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</a:t>
            </a:r>
          </a:p>
          <a:p>
            <a:r>
              <a:rPr lang="en-IN" dirty="0"/>
              <a:t> </a:t>
            </a:r>
          </a:p>
          <a:p>
            <a:pPr marL="342900" indent="-342900">
              <a:buAutoNum type="arabicPeriod" startAt="2"/>
            </a:pPr>
            <a:r>
              <a:rPr lang="en-IN" b="1" dirty="0"/>
              <a:t>Bar Charts:</a:t>
            </a:r>
          </a:p>
          <a:p>
            <a:r>
              <a:rPr lang="en-IN" dirty="0"/>
              <a:t>       Used to compare categories.</a:t>
            </a:r>
          </a:p>
          <a:p>
            <a:r>
              <a:rPr lang="en-IN" dirty="0"/>
              <a:t>       </a:t>
            </a:r>
            <a:r>
              <a:rPr lang="en-IN" dirty="0" err="1"/>
              <a:t>plt.bar</a:t>
            </a:r>
            <a:r>
              <a:rPr lang="en-IN" dirty="0"/>
              <a:t>()</a:t>
            </a:r>
          </a:p>
          <a:p>
            <a:r>
              <a:rPr lang="en-IN" b="1" dirty="0"/>
              <a:t>3. Pie Charts</a:t>
            </a:r>
          </a:p>
          <a:p>
            <a:r>
              <a:rPr lang="en-IN" dirty="0"/>
              <a:t>      Used to show proportions or percentages.</a:t>
            </a:r>
          </a:p>
          <a:p>
            <a:r>
              <a:rPr lang="en-IN" dirty="0"/>
              <a:t>       </a:t>
            </a:r>
            <a:r>
              <a:rPr lang="en-IN" dirty="0" err="1"/>
              <a:t>plt.pie</a:t>
            </a:r>
            <a:r>
              <a:rPr lang="en-IN" dirty="0"/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2DBA6D-0CA2-153F-114B-AE949AB8C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1747158"/>
            <a:ext cx="4794232" cy="23311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868C6B-11A7-F6A0-EDC0-A55522492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123" y="522514"/>
            <a:ext cx="3882690" cy="2887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1383C5-4DC6-A97F-8DFD-B978BC745E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33" y="3594675"/>
            <a:ext cx="3617870" cy="274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54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65B52E-8DC5-9865-CD1C-DAF0EE353EF5}"/>
              </a:ext>
            </a:extLst>
          </p:cNvPr>
          <p:cNvSpPr txBox="1"/>
          <p:nvPr/>
        </p:nvSpPr>
        <p:spPr>
          <a:xfrm>
            <a:off x="593271" y="718457"/>
            <a:ext cx="1100545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Scikit-Learn (</a:t>
            </a:r>
            <a:r>
              <a:rPr lang="en-IN" sz="2000" b="1" dirty="0" err="1"/>
              <a:t>sklearn</a:t>
            </a:r>
            <a:r>
              <a:rPr lang="en-IN" sz="2000" b="1" dirty="0"/>
              <a:t>)</a:t>
            </a:r>
          </a:p>
          <a:p>
            <a:endParaRPr lang="en-IN" sz="2000" b="1" dirty="0"/>
          </a:p>
          <a:p>
            <a:r>
              <a:rPr lang="en-IN" dirty="0"/>
              <a:t>Scikit-Learn is a Python library that provides tools and algorithms for building, training, testing, and evaluating Machine Learning models.</a:t>
            </a:r>
          </a:p>
          <a:p>
            <a:endParaRPr lang="en-IN" dirty="0"/>
          </a:p>
          <a:p>
            <a:r>
              <a:rPr lang="en-IN" b="1" dirty="0"/>
              <a:t>Machine Learning Workflow Using Scikit-Learn</a:t>
            </a:r>
          </a:p>
          <a:p>
            <a:endParaRPr lang="en-IN" dirty="0"/>
          </a:p>
          <a:p>
            <a:r>
              <a:rPr lang="en-IN" dirty="0"/>
              <a:t>Dataset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Data Preprocessing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Train-Test Split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Model Selection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Model Training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Prediction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2018110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64E7AB-7359-A29E-6CDB-B34108A7589B}"/>
              </a:ext>
            </a:extLst>
          </p:cNvPr>
          <p:cNvSpPr txBox="1"/>
          <p:nvPr/>
        </p:nvSpPr>
        <p:spPr>
          <a:xfrm>
            <a:off x="636813" y="394692"/>
            <a:ext cx="1076052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Major Algorithms in Scikit-Learn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b="1" dirty="0"/>
              <a:t>Linear Regression</a:t>
            </a:r>
            <a:r>
              <a:rPr lang="en-IN" dirty="0"/>
              <a:t>: Used to predict continuous numerical values.</a:t>
            </a:r>
          </a:p>
          <a:p>
            <a:r>
              <a:rPr lang="en-IN" dirty="0"/>
              <a:t>Syntax: </a:t>
            </a:r>
          </a:p>
          <a:p>
            <a:r>
              <a:rPr lang="en-IN" dirty="0"/>
              <a:t>       from </a:t>
            </a:r>
            <a:r>
              <a:rPr lang="en-IN" dirty="0" err="1"/>
              <a:t>sklearn.linear_model</a:t>
            </a:r>
            <a:r>
              <a:rPr lang="en-IN" dirty="0"/>
              <a:t> import </a:t>
            </a:r>
            <a:r>
              <a:rPr lang="en-IN" dirty="0" err="1"/>
              <a:t>LinearRegression</a:t>
            </a:r>
            <a:endParaRPr lang="en-IN" dirty="0"/>
          </a:p>
          <a:p>
            <a:r>
              <a:rPr lang="en-IN" dirty="0"/>
              <a:t>       model = </a:t>
            </a:r>
            <a:r>
              <a:rPr lang="en-IN" dirty="0" err="1"/>
              <a:t>LinearRegression</a:t>
            </a:r>
            <a:r>
              <a:rPr lang="en-IN" dirty="0"/>
              <a:t>()</a:t>
            </a:r>
          </a:p>
          <a:p>
            <a:r>
              <a:rPr lang="en-IN" dirty="0"/>
              <a:t>2. </a:t>
            </a:r>
            <a:r>
              <a:rPr lang="en-IN" b="1" dirty="0"/>
              <a:t>Decision Trees</a:t>
            </a:r>
            <a:r>
              <a:rPr lang="en-IN" dirty="0"/>
              <a:t>: Decision Trees make decisions using a tree-like structure.</a:t>
            </a:r>
          </a:p>
          <a:p>
            <a:r>
              <a:rPr lang="en-IN" dirty="0"/>
              <a:t>    </a:t>
            </a:r>
            <a:r>
              <a:rPr lang="en-IN" dirty="0" err="1"/>
              <a:t>Synatx</a:t>
            </a:r>
            <a:r>
              <a:rPr lang="en-IN" dirty="0"/>
              <a:t>: </a:t>
            </a:r>
          </a:p>
          <a:p>
            <a:r>
              <a:rPr lang="en-IN" dirty="0"/>
              <a:t>       from </a:t>
            </a:r>
            <a:r>
              <a:rPr lang="en-IN" dirty="0" err="1"/>
              <a:t>sklearn.tree</a:t>
            </a:r>
            <a:r>
              <a:rPr lang="en-IN" dirty="0"/>
              <a:t> import </a:t>
            </a:r>
            <a:r>
              <a:rPr lang="en-IN" dirty="0" err="1"/>
              <a:t>DecisionTreeClassifier</a:t>
            </a:r>
            <a:endParaRPr lang="en-IN" dirty="0"/>
          </a:p>
          <a:p>
            <a:r>
              <a:rPr lang="en-IN" dirty="0"/>
              <a:t>       model = </a:t>
            </a:r>
            <a:r>
              <a:rPr lang="en-IN" dirty="0" err="1"/>
              <a:t>DecisionTreeClassifier</a:t>
            </a:r>
            <a:r>
              <a:rPr lang="en-IN" dirty="0"/>
              <a:t>()</a:t>
            </a:r>
          </a:p>
          <a:p>
            <a:r>
              <a:rPr lang="en-IN" dirty="0"/>
              <a:t>3. </a:t>
            </a:r>
            <a:r>
              <a:rPr lang="en-IN" b="1" dirty="0"/>
              <a:t>Random Forest:</a:t>
            </a:r>
          </a:p>
          <a:p>
            <a:r>
              <a:rPr lang="en-IN" dirty="0"/>
              <a:t>     Random Forest is one of the most powerful Machine Learning algorithms.</a:t>
            </a:r>
          </a:p>
          <a:p>
            <a:r>
              <a:rPr lang="en-IN" dirty="0"/>
              <a:t>      It combines multiple Decision Trees to make better predictions.</a:t>
            </a:r>
          </a:p>
          <a:p>
            <a:r>
              <a:rPr lang="en-IN" dirty="0" err="1"/>
              <a:t>Synatx</a:t>
            </a:r>
            <a:r>
              <a:rPr lang="en-IN" dirty="0"/>
              <a:t>:</a:t>
            </a:r>
          </a:p>
          <a:p>
            <a:r>
              <a:rPr lang="en-IN" dirty="0"/>
              <a:t>      from </a:t>
            </a:r>
            <a:r>
              <a:rPr lang="en-IN" dirty="0" err="1"/>
              <a:t>sklearn.ensemble</a:t>
            </a:r>
            <a:r>
              <a:rPr lang="en-IN" dirty="0"/>
              <a:t> import </a:t>
            </a:r>
            <a:r>
              <a:rPr lang="en-IN" dirty="0" err="1"/>
              <a:t>RandomForestRegressor</a:t>
            </a:r>
            <a:endParaRPr lang="en-IN" dirty="0"/>
          </a:p>
          <a:p>
            <a:r>
              <a:rPr lang="en-IN" dirty="0"/>
              <a:t>       model = </a:t>
            </a:r>
            <a:r>
              <a:rPr lang="en-IN" dirty="0" err="1"/>
              <a:t>RandomForestRegressor</a:t>
            </a:r>
            <a:r>
              <a:rPr lang="en-IN" dirty="0"/>
              <a:t>()</a:t>
            </a:r>
          </a:p>
          <a:p>
            <a:r>
              <a:rPr lang="en-IN" dirty="0"/>
              <a:t>4. </a:t>
            </a:r>
            <a:r>
              <a:rPr lang="en-IN" b="1" dirty="0"/>
              <a:t>Clustering:</a:t>
            </a:r>
          </a:p>
          <a:p>
            <a:r>
              <a:rPr lang="en-IN" dirty="0"/>
              <a:t>      Clustering groups similar data points together.</a:t>
            </a:r>
          </a:p>
          <a:p>
            <a:r>
              <a:rPr lang="en-IN" dirty="0"/>
              <a:t>Syntax:  </a:t>
            </a:r>
          </a:p>
          <a:p>
            <a:r>
              <a:rPr lang="en-IN" dirty="0"/>
              <a:t>       </a:t>
            </a:r>
            <a:r>
              <a:rPr lang="en-US" dirty="0"/>
              <a:t>from </a:t>
            </a:r>
            <a:r>
              <a:rPr lang="en-US" dirty="0" err="1"/>
              <a:t>sklearn.cluster</a:t>
            </a:r>
            <a:r>
              <a:rPr lang="en-US" dirty="0"/>
              <a:t> import </a:t>
            </a:r>
            <a:r>
              <a:rPr lang="en-US" dirty="0" err="1"/>
              <a:t>KMeans</a:t>
            </a:r>
            <a:endParaRPr lang="en-US" dirty="0"/>
          </a:p>
          <a:p>
            <a:r>
              <a:rPr lang="en-US" dirty="0"/>
              <a:t>      model = </a:t>
            </a:r>
            <a:r>
              <a:rPr lang="en-US" dirty="0" err="1"/>
              <a:t>KMeans</a:t>
            </a:r>
            <a:r>
              <a:rPr lang="en-US" dirty="0"/>
              <a:t>(</a:t>
            </a:r>
            <a:r>
              <a:rPr lang="en-US" dirty="0" err="1"/>
              <a:t>n_clusters</a:t>
            </a:r>
            <a:r>
              <a:rPr lang="en-US" dirty="0"/>
              <a:t>=2)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98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A88078-829A-813C-0D45-CF6981214A2F}"/>
              </a:ext>
            </a:extLst>
          </p:cNvPr>
          <p:cNvSpPr txBox="1"/>
          <p:nvPr/>
        </p:nvSpPr>
        <p:spPr>
          <a:xfrm>
            <a:off x="604157" y="587829"/>
            <a:ext cx="10760529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TensorFlow:</a:t>
            </a:r>
          </a:p>
          <a:p>
            <a:endParaRPr lang="en-US" sz="2000" b="1" dirty="0"/>
          </a:p>
          <a:p>
            <a:r>
              <a:rPr lang="en-IN" dirty="0"/>
              <a:t>The word TensorFlow comes from </a:t>
            </a:r>
            <a:r>
              <a:rPr lang="en-IN" b="1" dirty="0"/>
              <a:t>Tensor</a:t>
            </a:r>
          </a:p>
          <a:p>
            <a:r>
              <a:rPr lang="en-IN" dirty="0"/>
              <a:t>A tensor is a mathematical structure used to store data.</a:t>
            </a:r>
          </a:p>
          <a:p>
            <a:endParaRPr lang="en-US" b="1" dirty="0"/>
          </a:p>
          <a:p>
            <a:r>
              <a:rPr lang="en-IN" dirty="0"/>
              <a:t>TensorFlow is a Python library that helps developers build, train, and deploy Deep Learning and Artificial Intelligence models.</a:t>
            </a:r>
          </a:p>
          <a:p>
            <a:r>
              <a:rPr lang="en-IN" dirty="0"/>
              <a:t>Used to build Artificial Intelligence applications such as Image Recognition , Natural Language Processing, </a:t>
            </a:r>
          </a:p>
          <a:p>
            <a:r>
              <a:rPr lang="en-IN" dirty="0"/>
              <a:t>Neural Networks</a:t>
            </a:r>
          </a:p>
          <a:p>
            <a:r>
              <a:rPr lang="en-IN" dirty="0"/>
              <a:t>Ex:-</a:t>
            </a:r>
          </a:p>
          <a:p>
            <a:r>
              <a:rPr lang="en-IN" dirty="0"/>
              <a:t>Scalar (0D Tensor)</a:t>
            </a:r>
          </a:p>
          <a:p>
            <a:r>
              <a:rPr lang="en-IN" dirty="0"/>
              <a:t>5</a:t>
            </a:r>
          </a:p>
          <a:p>
            <a:endParaRPr lang="en-IN" dirty="0"/>
          </a:p>
          <a:p>
            <a:r>
              <a:rPr lang="en-IN" dirty="0"/>
              <a:t>Vector (1D Tensor)</a:t>
            </a:r>
          </a:p>
          <a:p>
            <a:r>
              <a:rPr lang="en-IN" dirty="0"/>
              <a:t>[1,2,3]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Matrix(2D Tensor)</a:t>
            </a:r>
          </a:p>
          <a:p>
            <a:r>
              <a:rPr lang="en-IN" dirty="0"/>
              <a:t>[</a:t>
            </a:r>
          </a:p>
          <a:p>
            <a:r>
              <a:rPr lang="en-IN" dirty="0"/>
              <a:t> [1,2],</a:t>
            </a:r>
          </a:p>
          <a:p>
            <a:r>
              <a:rPr lang="en-IN" dirty="0"/>
              <a:t> [3,4]</a:t>
            </a:r>
          </a:p>
          <a:p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32968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1D2BFD-B907-4B78-3F48-51A768919113}"/>
              </a:ext>
            </a:extLst>
          </p:cNvPr>
          <p:cNvSpPr txBox="1"/>
          <p:nvPr/>
        </p:nvSpPr>
        <p:spPr>
          <a:xfrm>
            <a:off x="740229" y="636814"/>
            <a:ext cx="1071154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TensorFlow Workflow</a:t>
            </a:r>
          </a:p>
          <a:p>
            <a:endParaRPr lang="en-IN" dirty="0"/>
          </a:p>
          <a:p>
            <a:r>
              <a:rPr lang="en-IN" dirty="0"/>
              <a:t>Dataset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TensorFlow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Neural Network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Training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Prediction</a:t>
            </a:r>
          </a:p>
          <a:p>
            <a:r>
              <a:rPr lang="en-IN" dirty="0"/>
              <a:t>    ↓</a:t>
            </a:r>
          </a:p>
          <a:p>
            <a:r>
              <a:rPr lang="en-IN" dirty="0"/>
              <a:t>Evaluation</a:t>
            </a:r>
          </a:p>
          <a:p>
            <a:endParaRPr lang="en-IN" dirty="0"/>
          </a:p>
          <a:p>
            <a:r>
              <a:rPr lang="en-IN" b="1" dirty="0"/>
              <a:t>Applications:</a:t>
            </a:r>
          </a:p>
          <a:p>
            <a:r>
              <a:rPr lang="en-IN" dirty="0"/>
              <a:t>Image Classification</a:t>
            </a:r>
          </a:p>
          <a:p>
            <a:r>
              <a:rPr lang="en-IN" dirty="0"/>
              <a:t>NLP</a:t>
            </a:r>
          </a:p>
          <a:p>
            <a:r>
              <a:rPr lang="en-IN" dirty="0"/>
              <a:t>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607546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90A389-4CD3-533D-F999-605225A66048}"/>
              </a:ext>
            </a:extLst>
          </p:cNvPr>
          <p:cNvSpPr txBox="1"/>
          <p:nvPr/>
        </p:nvSpPr>
        <p:spPr>
          <a:xfrm>
            <a:off x="560614" y="522515"/>
            <a:ext cx="1107077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PyTorch</a:t>
            </a:r>
            <a:endParaRPr lang="en-IN" b="1" dirty="0"/>
          </a:p>
          <a:p>
            <a:endParaRPr lang="en-IN" b="1" dirty="0"/>
          </a:p>
          <a:p>
            <a:r>
              <a:rPr lang="en-IN" b="1" dirty="0" err="1"/>
              <a:t>PyTorch</a:t>
            </a:r>
            <a:r>
              <a:rPr lang="en-IN" dirty="0"/>
              <a:t> is an open-source Deep Learning framework developed by </a:t>
            </a:r>
            <a:r>
              <a:rPr lang="en-IN" b="1" dirty="0"/>
              <a:t>Meta</a:t>
            </a:r>
          </a:p>
          <a:p>
            <a:endParaRPr lang="en-IN" b="1" dirty="0"/>
          </a:p>
          <a:p>
            <a:r>
              <a:rPr lang="en-IN" b="1" dirty="0"/>
              <a:t>Applications:</a:t>
            </a:r>
            <a:endParaRPr lang="en-IN" dirty="0"/>
          </a:p>
          <a:p>
            <a:r>
              <a:rPr lang="en-IN" dirty="0"/>
              <a:t>Computer vision: Teaching computers to understand images and videos.</a:t>
            </a:r>
          </a:p>
          <a:p>
            <a:r>
              <a:rPr lang="en-IN" dirty="0"/>
              <a:t>Natural Language Processing(NLP): Allows computers to understand human language.</a:t>
            </a:r>
          </a:p>
          <a:p>
            <a:r>
              <a:rPr lang="en-IN" dirty="0"/>
              <a:t>EX:</a:t>
            </a:r>
          </a:p>
          <a:p>
            <a:r>
              <a:rPr lang="en-US" dirty="0"/>
              <a:t>import torch</a:t>
            </a:r>
          </a:p>
          <a:p>
            <a:r>
              <a:rPr lang="en-US" dirty="0"/>
              <a:t>a = </a:t>
            </a:r>
            <a:r>
              <a:rPr lang="en-US" dirty="0" err="1"/>
              <a:t>torch.tensor</a:t>
            </a:r>
            <a:r>
              <a:rPr lang="en-US" dirty="0"/>
              <a:t>([1, 2, 3])</a:t>
            </a:r>
          </a:p>
          <a:p>
            <a:r>
              <a:rPr lang="en-US" dirty="0"/>
              <a:t>b = </a:t>
            </a:r>
            <a:r>
              <a:rPr lang="en-US" dirty="0" err="1"/>
              <a:t>torch.tensor</a:t>
            </a:r>
            <a:r>
              <a:rPr lang="en-US" dirty="0"/>
              <a:t>([4, 5, 6])</a:t>
            </a:r>
          </a:p>
          <a:p>
            <a:r>
              <a:rPr lang="en-US" dirty="0"/>
              <a:t>print(a + b)</a:t>
            </a:r>
          </a:p>
          <a:p>
            <a:endParaRPr lang="en-US" dirty="0"/>
          </a:p>
          <a:p>
            <a:r>
              <a:rPr lang="en-IN" dirty="0"/>
              <a:t>import torch</a:t>
            </a:r>
          </a:p>
          <a:p>
            <a:r>
              <a:rPr lang="en-IN" dirty="0"/>
              <a:t>import </a:t>
            </a:r>
            <a:r>
              <a:rPr lang="en-IN" dirty="0" err="1"/>
              <a:t>torch.nn</a:t>
            </a:r>
            <a:r>
              <a:rPr lang="en-IN" dirty="0"/>
              <a:t> as </a:t>
            </a:r>
            <a:r>
              <a:rPr lang="en-IN" dirty="0" err="1"/>
              <a:t>nn</a:t>
            </a:r>
            <a:endParaRPr lang="en-IN" dirty="0"/>
          </a:p>
          <a:p>
            <a:r>
              <a:rPr lang="en-IN" dirty="0"/>
              <a:t>model = </a:t>
            </a:r>
            <a:r>
              <a:rPr lang="en-IN" dirty="0" err="1"/>
              <a:t>nn.Sequential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nn.Linear</a:t>
            </a:r>
            <a:r>
              <a:rPr lang="en-IN" dirty="0"/>
              <a:t>(1, 10),</a:t>
            </a:r>
          </a:p>
          <a:p>
            <a:r>
              <a:rPr lang="en-IN" dirty="0"/>
              <a:t>    </a:t>
            </a:r>
            <a:r>
              <a:rPr lang="en-IN" dirty="0" err="1"/>
              <a:t>nn.ReLU</a:t>
            </a:r>
            <a:r>
              <a:rPr lang="en-IN" dirty="0"/>
              <a:t>(),</a:t>
            </a:r>
          </a:p>
          <a:p>
            <a:r>
              <a:rPr lang="en-IN" dirty="0"/>
              <a:t>    </a:t>
            </a:r>
            <a:r>
              <a:rPr lang="en-IN" dirty="0" err="1"/>
              <a:t>nn.Linear</a:t>
            </a:r>
            <a:r>
              <a:rPr lang="en-IN" dirty="0"/>
              <a:t>(10, 1)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>print(model)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5537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6A41B2-8BF2-2CF2-39A4-20695ACEAA85}"/>
              </a:ext>
            </a:extLst>
          </p:cNvPr>
          <p:cNvSpPr txBox="1"/>
          <p:nvPr/>
        </p:nvSpPr>
        <p:spPr>
          <a:xfrm>
            <a:off x="506186" y="669471"/>
            <a:ext cx="10940143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Computer Vision</a:t>
            </a:r>
          </a:p>
          <a:p>
            <a:endParaRPr lang="en-IN" sz="2000" b="1" dirty="0"/>
          </a:p>
          <a:p>
            <a:r>
              <a:rPr lang="en-IN" dirty="0"/>
              <a:t>Computer Vision is a branch of Artificial Intelligence that allows computers to identify and understand objects in images and videos.</a:t>
            </a:r>
          </a:p>
          <a:p>
            <a:r>
              <a:rPr lang="en-IN" b="1" dirty="0"/>
              <a:t>Human Vision</a:t>
            </a:r>
          </a:p>
          <a:p>
            <a:r>
              <a:rPr lang="en-IN" dirty="0"/>
              <a:t>Eye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Brain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Recognize Object</a:t>
            </a:r>
          </a:p>
          <a:p>
            <a:endParaRPr lang="en-IN" dirty="0"/>
          </a:p>
          <a:p>
            <a:r>
              <a:rPr lang="en-IN" b="1" dirty="0"/>
              <a:t>Computer Vision</a:t>
            </a:r>
          </a:p>
          <a:p>
            <a:endParaRPr lang="en-IN" dirty="0"/>
          </a:p>
          <a:p>
            <a:r>
              <a:rPr lang="en-IN" dirty="0"/>
              <a:t>Camera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OpenCV</a:t>
            </a:r>
          </a:p>
          <a:p>
            <a:r>
              <a:rPr lang="en-IN" dirty="0"/>
              <a:t> ↓</a:t>
            </a:r>
          </a:p>
          <a:p>
            <a:r>
              <a:rPr lang="en-IN" dirty="0"/>
              <a:t>Recognize Object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541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881F06-7A97-CD9D-2A66-12ECBD79D2C1}"/>
              </a:ext>
            </a:extLst>
          </p:cNvPr>
          <p:cNvSpPr txBox="1"/>
          <p:nvPr/>
        </p:nvSpPr>
        <p:spPr>
          <a:xfrm>
            <a:off x="489857" y="636814"/>
            <a:ext cx="109891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WorkFlow</a:t>
            </a:r>
            <a:r>
              <a:rPr lang="en-IN" b="1" dirty="0"/>
              <a:t>:</a:t>
            </a:r>
          </a:p>
          <a:p>
            <a:endParaRPr lang="en-IN" dirty="0"/>
          </a:p>
          <a:p>
            <a:r>
              <a:rPr lang="en-IN" dirty="0"/>
              <a:t>Image / Video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OpenCV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Image Processing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Feature Detection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Object Recognition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841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11C119-3F38-8899-A014-50634E0AADEE}"/>
              </a:ext>
            </a:extLst>
          </p:cNvPr>
          <p:cNvSpPr txBox="1"/>
          <p:nvPr/>
        </p:nvSpPr>
        <p:spPr>
          <a:xfrm rot="10800000" flipH="1" flipV="1">
            <a:off x="620485" y="729439"/>
            <a:ext cx="115715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NLTK(</a:t>
            </a:r>
            <a:r>
              <a:rPr lang="en-IN" b="1" dirty="0"/>
              <a:t>Natural Language Toolkit):</a:t>
            </a:r>
          </a:p>
          <a:p>
            <a:endParaRPr lang="en-IN" b="1" dirty="0"/>
          </a:p>
          <a:p>
            <a:r>
              <a:rPr lang="en-IN" dirty="0"/>
              <a:t>It is mainly used for text processing, tokenization, Lemmatization, and sentiment analysis</a:t>
            </a:r>
            <a:endParaRPr lang="en-US" dirty="0"/>
          </a:p>
          <a:p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nltk.tokenize</a:t>
            </a:r>
            <a:r>
              <a:rPr lang="en-US" dirty="0"/>
              <a:t> import </a:t>
            </a:r>
            <a:r>
              <a:rPr lang="en-US" dirty="0" err="1"/>
              <a:t>word_tokenize</a:t>
            </a:r>
            <a:endParaRPr lang="en-US" dirty="0"/>
          </a:p>
          <a:p>
            <a:endParaRPr lang="en-US" dirty="0"/>
          </a:p>
          <a:p>
            <a:r>
              <a:rPr lang="en-US" dirty="0"/>
              <a:t>text = "Artificial Intelligence is transforming the world"</a:t>
            </a:r>
          </a:p>
          <a:p>
            <a:endParaRPr lang="en-US" dirty="0"/>
          </a:p>
          <a:p>
            <a:r>
              <a:rPr lang="en-US" dirty="0"/>
              <a:t>tokens = </a:t>
            </a:r>
            <a:r>
              <a:rPr lang="en-US" dirty="0" err="1"/>
              <a:t>word_tokenize</a:t>
            </a:r>
            <a:r>
              <a:rPr lang="en-US" dirty="0"/>
              <a:t>(text)</a:t>
            </a:r>
          </a:p>
          <a:p>
            <a:endParaRPr lang="en-US" dirty="0"/>
          </a:p>
          <a:p>
            <a:r>
              <a:rPr lang="en-US" dirty="0"/>
              <a:t>print(tokens)</a:t>
            </a:r>
          </a:p>
          <a:p>
            <a:endParaRPr lang="en-US" dirty="0"/>
          </a:p>
          <a:p>
            <a:r>
              <a:rPr lang="en-US" dirty="0"/>
              <a:t>o/p:   ['Artificial', 'Intelligence', 'is', 'transforming', 'the', 'world’]</a:t>
            </a:r>
          </a:p>
          <a:p>
            <a:endParaRPr lang="en-US" dirty="0"/>
          </a:p>
          <a:p>
            <a:r>
              <a:rPr lang="en-US" b="1" dirty="0"/>
              <a:t>Applications:</a:t>
            </a:r>
          </a:p>
          <a:p>
            <a:endParaRPr lang="en-US" dirty="0"/>
          </a:p>
          <a:p>
            <a:r>
              <a:rPr lang="en-US" dirty="0"/>
              <a:t>Chatbot</a:t>
            </a:r>
          </a:p>
          <a:p>
            <a:r>
              <a:rPr lang="en-IN" dirty="0"/>
              <a:t>Text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41654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3BFD57-A708-7BB3-D00D-EEEB2AD69490}"/>
              </a:ext>
            </a:extLst>
          </p:cNvPr>
          <p:cNvSpPr txBox="1"/>
          <p:nvPr/>
        </p:nvSpPr>
        <p:spPr>
          <a:xfrm>
            <a:off x="359228" y="398451"/>
            <a:ext cx="108585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LangChain</a:t>
            </a:r>
            <a:endParaRPr lang="en-IN" sz="2000" b="1" dirty="0"/>
          </a:p>
          <a:p>
            <a:endParaRPr lang="en-IN" sz="2000" b="1" dirty="0"/>
          </a:p>
          <a:p>
            <a:r>
              <a:rPr lang="en-IN" b="1" dirty="0" err="1"/>
              <a:t>LangChain</a:t>
            </a:r>
            <a:r>
              <a:rPr lang="en-IN" dirty="0"/>
              <a:t> is an open-source framework used to build applications powered by Large Language Models (LLMs) such as OpenAI GPT models , Gemini , Claude, Llama</a:t>
            </a:r>
          </a:p>
          <a:p>
            <a:r>
              <a:rPr lang="en-IN" b="1" dirty="0"/>
              <a:t>What Can LLMs Do?</a:t>
            </a:r>
          </a:p>
          <a:p>
            <a:r>
              <a:rPr lang="en-IN" dirty="0"/>
              <a:t>Answer questions </a:t>
            </a:r>
          </a:p>
          <a:p>
            <a:r>
              <a:rPr lang="en-IN" dirty="0"/>
              <a:t>Write code </a:t>
            </a:r>
          </a:p>
          <a:p>
            <a:r>
              <a:rPr lang="en-IN" dirty="0"/>
              <a:t>Summarize documents </a:t>
            </a:r>
          </a:p>
          <a:p>
            <a:r>
              <a:rPr lang="en-IN" dirty="0"/>
              <a:t>Translate languages </a:t>
            </a:r>
          </a:p>
          <a:p>
            <a:r>
              <a:rPr lang="en-IN" dirty="0"/>
              <a:t>Generate content </a:t>
            </a:r>
          </a:p>
          <a:p>
            <a:r>
              <a:rPr lang="en-IN" dirty="0"/>
              <a:t>Ex:--</a:t>
            </a:r>
          </a:p>
          <a:p>
            <a:r>
              <a:rPr lang="en-IN" dirty="0"/>
              <a:t>from </a:t>
            </a:r>
            <a:r>
              <a:rPr lang="en-IN" dirty="0" err="1"/>
              <a:t>langchain_openai</a:t>
            </a:r>
            <a:r>
              <a:rPr lang="en-IN" dirty="0"/>
              <a:t> import </a:t>
            </a:r>
            <a:r>
              <a:rPr lang="en-IN" dirty="0" err="1"/>
              <a:t>ChatOpenAI</a:t>
            </a:r>
            <a:endParaRPr lang="en-IN" dirty="0"/>
          </a:p>
          <a:p>
            <a:r>
              <a:rPr lang="en-IN" dirty="0"/>
              <a:t># Load LLM</a:t>
            </a:r>
          </a:p>
          <a:p>
            <a:r>
              <a:rPr lang="en-IN" dirty="0" err="1"/>
              <a:t>llm</a:t>
            </a:r>
            <a:r>
              <a:rPr lang="en-IN" dirty="0"/>
              <a:t> = </a:t>
            </a:r>
            <a:r>
              <a:rPr lang="en-IN" dirty="0" err="1"/>
              <a:t>ChatOpenAI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api_key</a:t>
            </a:r>
            <a:r>
              <a:rPr lang="en-IN" dirty="0"/>
              <a:t>="YOUR_API_KEY"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># Ask a question</a:t>
            </a:r>
          </a:p>
          <a:p>
            <a:r>
              <a:rPr lang="en-IN" dirty="0"/>
              <a:t>response = </a:t>
            </a:r>
            <a:r>
              <a:rPr lang="en-IN" dirty="0" err="1"/>
              <a:t>llm.invoke</a:t>
            </a:r>
            <a:r>
              <a:rPr lang="en-IN" dirty="0"/>
              <a:t>(</a:t>
            </a:r>
          </a:p>
          <a:p>
            <a:r>
              <a:rPr lang="en-IN" dirty="0"/>
              <a:t>    "What is Artificial Intelligence?"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># Display response</a:t>
            </a:r>
          </a:p>
          <a:p>
            <a:r>
              <a:rPr lang="en-IN" dirty="0"/>
              <a:t>print(</a:t>
            </a:r>
            <a:r>
              <a:rPr lang="en-IN" dirty="0" err="1"/>
              <a:t>response.content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197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1734</Words>
  <Application>Microsoft Office PowerPoint</Application>
  <PresentationFormat>Widescreen</PresentationFormat>
  <Paragraphs>414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Wingdings</vt:lpstr>
      <vt:lpstr>Office Theme</vt:lpstr>
      <vt:lpstr>"Essential Python Libraries for AI Developers"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Srilekha Chundu</dc:creator>
  <cp:lastModifiedBy>Srilekha Chundu</cp:lastModifiedBy>
  <cp:revision>6</cp:revision>
  <dcterms:created xsi:type="dcterms:W3CDTF">2026-07-10T12:01:34Z</dcterms:created>
  <dcterms:modified xsi:type="dcterms:W3CDTF">2026-07-15T15:57:58Z</dcterms:modified>
</cp:coreProperties>
</file>